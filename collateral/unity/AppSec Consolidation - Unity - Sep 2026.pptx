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tension the whole deal turns on: Andie needs tooling engineers never feel, Chris and the new CISO need oversight they can defend. GitHub Advanced Security offers the first without the second. Cycode offers neither. The deck argues Unity can have both.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$950K to $1.05M per year on a 3 year term, versus about $722K for renewing Cycode ($472K) plus adding GitHub Secret Protection ($250K). This deck walks Unity's own five success metrics, scores both options, and prices the gap. If the room reads two slides, it is this one and the scorecard.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line except Endor Labs exists because another line does not work. Cycode's search latency and finding floods pushed Unity to build its own CVSS re-scoring layer into Jira. The Engine team still maintains Black Duck for SBOM and Coverity for SAST. The question is not which scanner, it is how many layers of compensation Unity keeps funding.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new CISO this slide is the history lesson: incident, distrust of the incumbent, engineering led rebuild, this decision. The compromise began with a malicious package and ended with roughly 7,500 exfiltrated repos whose embedded secrets the incumbent never flagged. Deciding late means renewing Cycode by default. Incident details are Unity confidential.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metrics are Unity's own, from the September 1 review, in Unity's priority order. Split stack means renewing Cycode and adding GitHub Secret Protection. Two honest credits: GitHub push protection is real, and it comes back on metrics 2 and 5. The next six slides walk the metrics one at a time. Net: Endor Labs 5 of 5, the split stack 1.5 of 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is honestly good on this metric for the secrets slice; that credit is real and it is handled on metrics 2 and 5. The Engine rollout ran on the philosophy Unity asked for, noisy findings are worse than under reporting: PR comments first, blocking only when in PR triage ships (CR-391). 92% is the platform average false positive reduction; customers report 91 to 99% of findings eliminated as noise.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metric Chris insisted on and the one GitHub Advanced Security structurally cannot meet: no cross tool policy, no risk thresholds, no centralized exception handling. After the incident, we do not know how findings were handled is not an answer a board accepts. Endor Labs keeps engineers in the PR and gives security the policy engine, the exceptions workflow, and the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level reachability separates a CVE exists somewhere from the vulnerable function is actually callable in Unity's code, with the call path as evidence (19,118 CVEs annotated at function level per the September 2 brief; verify that figure before external use). Ask the room what the internal filter costs to maintain and who owns it when its author leaves. That cost never appears on a renewal quote.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consolidation logic is asymmetric: Cycode can never cover the Engine because it cannot scan C, C++, or C# without manifest files, but Endor Labs covers everything Cycode does. Package Firewall (blocks malicious packages at install time, the incident's entry vector, works with Artifactory or standalone) and coding agent governance are the growth path on the same platform, deliberately not in this quote.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incident question is not how many pattern matches exist, it is which credentials are live right now. Validation calls the underlying service and marks each finding Valid, Invalid, or Unvalidated, so triage starts with live credentials. Deduplication collapses the same secret in fifty files into one finding. In the incident the incumbent missed the secrets and open source TruffleHog outperformed it, per the September 2 brief. Unity confidential: do not reuse outside this account.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push protection its due: at the push boundary it is excellent, and it is why GitHub is in this conversation. The gap is before and after that boundary: a pre commit hook stops the secret before it enters history anywhere, the same hooks cover AI coding agents, and validation plus full history scanning answer the incident question. Before presenting: SE validation needed (Matthew or Shruti) on hook rollout mechanics at Unity scale, MDM or endorctl distribution, GitHub Enterprise behind VPN, and agent hooks.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Endor Labs is the only vendor scanning C, C++, and C# without manifest files, which is why it is on the Engine at all. Scan times went from 10 hours to 2 hours to under 30 minutes; PR scans have been live since June; adoption is rated green. The evaluation numbers are Unity's own from October 2025: get champion sign off before showing them to new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public case studies. Zebra Technologies also cut remediation effort by over 60%. Five9 supports more than 250 developers per security engineer. Egnyte reallocated roughly 40% of AppSec resources. Keep each framing exactly as published; swap in different customers only from the approved social proof 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Pro is 2,000 of the 3,000 seats, so this is most of what Unity is buying. CodeQL is a strong, respected engine and Endor Labs partners with GitHub; the data is simply the data: 3.6x more true positives, 2.8x more CWE coverage, 2.7x more file coverage. Against Cycode: their SAST is the acquired Bearer engine, strongest in Java, about 10 languages, closed rules. Endor Labs AI SAST covers 41 languages with auditable, configurable rules.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verified ground truth across 8 real projects in Java, Python, JavaScript, TypeScript, C#, and Go. Roughly 3x the frontier models (2.6x Claude Opus 4.7, 3.5x Codex GPT 5.5) and more than 2x Semgrep OSS. It found a zero day (CVE-2026-55407) in a Rust library, a source to sink flaw with no pattern to grep for. Why now for Unity: Copilot and Cursor are already in use and AI written code is multiplying change volume; rule based SAST cannot reason about access control or business logic. Replaces Coverity on the Engine as well.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Finance framing: this is not a bigger security budget, it is the same problem bought once instead of five times. The hidden tax never shows on a quote: engineering hours on the homegrown filter, Black Duck and Coverity upkeep, triage at Cycode noise levels, and an incident class already realized once ($1.2M average damage per leaked secret). The range is the September 1 figure on a 3 year term; confirm current numbers with the account team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between about $722K and the $950K to $1.05M range is $228K to $328K a year. Across 3,000 covered engineers that is $6 to $9 per developer per month. Judge that against the five metric scorecard and a $1.2M average cost per leaked secret. Recompute from the final quote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hardest codebase is already deployed and adopted, so this is an expansion of a working system, not a migration gamble. Waves are gated on developer trust exactly like the Engine rollout. The H1 2027 checkpoints reuse the scorecard: false positive rate, PR dwell time, secrets blocked pre commit, findings under central policy, tools retired. Confirm sequencing and the wave plan with Thomas (CSE)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scorecard, then the ask: $950K to $1.05M a year, 3 year term, 2,000 Code Pro plus 1,000 SCA seats. The 3 year term is the pricing basis; the 2025 two year exception is the procurement precedent, and security prefers multi year.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from the February 2026 technical battlecard and June 2026 competitive brief; re verify currency if challenged. Credit where due: Cycode covers Java, JavaScript, TypeScript, Python, Go, .NET, and Ruby with reachability. The Unity problem is the Engine: C, C++, and C# without manifests, at 25GB with 17,000 branches.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Mirrors the September 2 executive brief Chris has already seen. Scenario one solves the Engine but keeps two vendors and split visibility. Scenario two consolidates scanning but leaves secrets governance outside AppSec, failing metric two. Scenario three is the recommendation this deck prices.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training opt out and local CI scanning are standing terms from the land deal. Do not promise a GitHub Enterprise Server app at 20,000 repo scale; that is an open feature request. Hybrid and on premises asks are also open items.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glow-strong.pn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241280" y="-1920240"/>
            <a:ext cx="3108960" cy="3108960"/>
          </a:xfrm>
          <a:prstGeom prst="ellipse">
            <a:avLst/>
          </a:prstGeom>
          <a:noFill/>
          <a:ln w="17780">
            <a:solidFill>
              <a:srgbClr val="0F2E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920240" y="4572000"/>
            <a:ext cx="4023360" cy="4023360"/>
          </a:xfrm>
          <a:prstGeom prst="ellipse">
            <a:avLst/>
          </a:prstGeom>
          <a:noFill/>
          <a:ln w="17780">
            <a:solidFill>
              <a:srgbClr val="0F2E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960120"/>
            <a:ext cx="10820095" cy="1463040"/>
          </a:xfrm>
          <a:prstGeom prst="rect">
            <a:avLst/>
          </a:prstGeom>
          <a:noFill/>
        </p:spPr>
        <p:txBody>
          <a:bodyPr wrap="square" anchor="ctr" lIns="0" rIns="0" tIns="0" bIns="0">
            <a:spAutoFit/>
          </a:bodyPr>
          <a:lstStyle/>
          <a:p>
            <a:pPr algn="ctr">
              <a:lnSpc>
                <a:spcPct val="105000"/>
              </a:lnSpc>
            </a:pPr>
            <a:r>
              <a:rPr sz="5400" b="1" i="0">
                <a:solidFill>
                  <a:srgbClr val="FFFFFF"/>
                </a:solidFill>
                <a:latin typeface="Arial"/>
              </a:rPr>
              <a:t>Speed or oversight</a:t>
            </a:r>
          </a:p>
        </p:txBody>
      </p:sp>
      <p:sp>
        <p:nvSpPr>
          <p:cNvPr id="6" name="Rectangle 5"/>
          <p:cNvSpPr/>
          <p:nvPr/>
        </p:nvSpPr>
        <p:spPr>
          <a:xfrm rot="21240000">
            <a:off x="5183733" y="1673352"/>
            <a:ext cx="795528" cy="4064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rot="21240000">
            <a:off x="5058765" y="1019556"/>
            <a:ext cx="1264920" cy="548640"/>
          </a:xfrm>
          <a:prstGeom prst="rect">
            <a:avLst/>
          </a:prstGeom>
          <a:noFill/>
        </p:spPr>
        <p:txBody>
          <a:bodyPr wrap="square" anchor="t" lIns="0" rIns="0" tIns="0" bIns="0">
            <a:spAutoFit/>
          </a:bodyPr>
          <a:lstStyle/>
          <a:p>
            <a:pPr algn="ctr"/>
            <a:r>
              <a:rPr sz="3347" b="1" i="1">
                <a:solidFill>
                  <a:srgbClr val="25D07C"/>
                </a:solidFill>
                <a:latin typeface="Arial"/>
              </a:rPr>
              <a:t>AND</a:t>
            </a:r>
          </a:p>
        </p:txBody>
      </p:sp>
      <p:sp>
        <p:nvSpPr>
          <p:cNvPr id="8" name="TextBox 7"/>
          <p:cNvSpPr txBox="1"/>
          <p:nvPr/>
        </p:nvSpPr>
        <p:spPr>
          <a:xfrm>
            <a:off x="685800" y="2514600"/>
            <a:ext cx="10820095" cy="548640"/>
          </a:xfrm>
          <a:prstGeom prst="rect">
            <a:avLst/>
          </a:prstGeom>
          <a:noFill/>
        </p:spPr>
        <p:txBody>
          <a:bodyPr wrap="square" anchor="t" lIns="0" rIns="0" tIns="0" bIns="0">
            <a:spAutoFit/>
          </a:bodyPr>
          <a:lstStyle/>
          <a:p>
            <a:pPr algn="ctr"/>
            <a:r>
              <a:rPr sz="2200" b="1" i="0">
                <a:solidFill>
                  <a:srgbClr val="FFFFFF"/>
                </a:solidFill>
                <a:latin typeface="Arial"/>
              </a:rPr>
              <a:t>One AppSec platform for Unity</a:t>
            </a:r>
          </a:p>
        </p:txBody>
      </p:sp>
      <p:sp>
        <p:nvSpPr>
          <p:cNvPr id="9" name="Rectangle 8"/>
          <p:cNvSpPr/>
          <p:nvPr/>
        </p:nvSpPr>
        <p:spPr>
          <a:xfrm>
            <a:off x="3992727" y="3346704"/>
            <a:ext cx="4206240" cy="1397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4-Point Star 9"/>
          <p:cNvSpPr/>
          <p:nvPr/>
        </p:nvSpPr>
        <p:spPr>
          <a:xfrm>
            <a:off x="8180679" y="3268980"/>
            <a:ext cx="164592" cy="164592"/>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ndor-logo.png"/>
          <p:cNvPicPr>
            <a:picLocks noChangeAspect="1"/>
          </p:cNvPicPr>
          <p:nvPr/>
        </p:nvPicPr>
        <p:blipFill>
          <a:blip r:embed="rId3"/>
          <a:stretch>
            <a:fillRect/>
          </a:stretch>
        </p:blipFill>
        <p:spPr>
          <a:xfrm>
            <a:off x="4495647" y="3895344"/>
            <a:ext cx="3200400" cy="459828"/>
          </a:xfrm>
          <a:prstGeom prst="rect">
            <a:avLst/>
          </a:prstGeom>
        </p:spPr>
      </p:pic>
      <p:sp>
        <p:nvSpPr>
          <p:cNvPr id="12" name="TextBox 11"/>
          <p:cNvSpPr txBox="1"/>
          <p:nvPr/>
        </p:nvSpPr>
        <p:spPr>
          <a:xfrm>
            <a:off x="685800" y="4519763"/>
            <a:ext cx="10820095" cy="384048"/>
          </a:xfrm>
          <a:prstGeom prst="rect">
            <a:avLst/>
          </a:prstGeom>
          <a:noFill/>
        </p:spPr>
        <p:txBody>
          <a:bodyPr wrap="square" anchor="t" lIns="0" rIns="0" tIns="0" bIns="0">
            <a:spAutoFit/>
          </a:bodyPr>
          <a:lstStyle/>
          <a:p>
            <a:pPr algn="ctr"/>
            <a:r>
              <a:rPr sz="1600" b="1" i="1">
                <a:solidFill>
                  <a:srgbClr val="25D07C"/>
                </a:solidFill>
                <a:latin typeface="Arial"/>
              </a:rPr>
              <a:t>The 2027 consolidation decision</a:t>
            </a:r>
          </a:p>
        </p:txBody>
      </p:sp>
      <p:sp>
        <p:nvSpPr>
          <p:cNvPr id="13" name="TextBox 12"/>
          <p:cNvSpPr txBox="1"/>
          <p:nvPr/>
        </p:nvSpPr>
        <p:spPr>
          <a:xfrm>
            <a:off x="685800" y="6263640"/>
            <a:ext cx="10820095" cy="320040"/>
          </a:xfrm>
          <a:prstGeom prst="rect">
            <a:avLst/>
          </a:prstGeom>
          <a:noFill/>
        </p:spPr>
        <p:txBody>
          <a:bodyPr wrap="square" anchor="t" lIns="0" rIns="0" tIns="0" bIns="0">
            <a:spAutoFit/>
          </a:bodyPr>
          <a:lstStyle/>
          <a:p>
            <a:pPr algn="ctr"/>
            <a:r>
              <a:rPr sz="1200" b="0" i="0">
                <a:solidFill>
                  <a:srgbClr val="9E9E9E"/>
                </a:solidFill>
                <a:latin typeface="Arial"/>
              </a:rPr>
              <a:t>Unity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EXECUTIVE SUMMARY</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The recommendation</a:t>
            </a:r>
          </a:p>
        </p:txBody>
      </p:sp>
      <p:sp>
        <p:nvSpPr>
          <p:cNvPr id="4" name="TextBox 3"/>
          <p:cNvSpPr txBox="1"/>
          <p:nvPr/>
        </p:nvSpPr>
        <p:spPr>
          <a:xfrm>
            <a:off x="685800" y="1938528"/>
            <a:ext cx="640080" cy="594360"/>
          </a:xfrm>
          <a:prstGeom prst="rect">
            <a:avLst/>
          </a:prstGeom>
          <a:noFill/>
        </p:spPr>
        <p:txBody>
          <a:bodyPr wrap="square" anchor="t" lIns="0" rIns="0" tIns="0" bIns="0">
            <a:spAutoFit/>
          </a:bodyPr>
          <a:lstStyle/>
          <a:p>
            <a:pPr algn="l"/>
            <a:r>
              <a:rPr sz="2800" b="1" i="0">
                <a:solidFill>
                  <a:srgbClr val="25D07C"/>
                </a:solidFill>
                <a:latin typeface="Arial"/>
              </a:rPr>
              <a:t>1</a:t>
            </a:r>
          </a:p>
        </p:txBody>
      </p:sp>
      <p:sp>
        <p:nvSpPr>
          <p:cNvPr id="5" name="TextBox 4"/>
          <p:cNvSpPr txBox="1"/>
          <p:nvPr/>
        </p:nvSpPr>
        <p:spPr>
          <a:xfrm>
            <a:off x="1463040" y="2011680"/>
            <a:ext cx="10042855" cy="1005840"/>
          </a:xfrm>
          <a:prstGeom prst="rect">
            <a:avLst/>
          </a:prstGeom>
          <a:noFill/>
        </p:spPr>
        <p:txBody>
          <a:bodyPr wrap="square" anchor="t" lIns="0" rIns="0" tIns="0" bIns="0">
            <a:spAutoFit/>
          </a:bodyPr>
          <a:lstStyle/>
          <a:p>
            <a:pPr algn="l">
              <a:lnSpc>
                <a:spcPct val="115000"/>
              </a:lnSpc>
            </a:pPr>
            <a:r>
              <a:rPr sz="2100" b="0" i="0">
                <a:solidFill>
                  <a:srgbClr val="FFFFFF"/>
                </a:solidFill>
                <a:latin typeface="Arial"/>
              </a:rPr>
              <a:t>Consolidate on Endor Labs: SCA, AI SAST, secrets</a:t>
            </a:r>
          </a:p>
          <a:p>
            <a:pPr algn="l">
              <a:lnSpc>
                <a:spcPct val="115000"/>
              </a:lnSpc>
            </a:pPr>
            <a:r>
              <a:rPr sz="1500" b="0" i="0">
                <a:solidFill>
                  <a:srgbClr val="FFFFFF"/>
                </a:solidFill>
                <a:latin typeface="Arial"/>
              </a:rPr>
              <a:t>2,000 Code Pro seats plus 1,000 more SCA seats</a:t>
            </a:r>
          </a:p>
        </p:txBody>
      </p:sp>
      <p:sp>
        <p:nvSpPr>
          <p:cNvPr id="6" name="TextBox 5"/>
          <p:cNvSpPr txBox="1"/>
          <p:nvPr/>
        </p:nvSpPr>
        <p:spPr>
          <a:xfrm>
            <a:off x="685800" y="3328416"/>
            <a:ext cx="640080" cy="594360"/>
          </a:xfrm>
          <a:prstGeom prst="rect">
            <a:avLst/>
          </a:prstGeom>
          <a:noFill/>
        </p:spPr>
        <p:txBody>
          <a:bodyPr wrap="square" anchor="t" lIns="0" rIns="0" tIns="0" bIns="0">
            <a:spAutoFit/>
          </a:bodyPr>
          <a:lstStyle/>
          <a:p>
            <a:pPr algn="l"/>
            <a:r>
              <a:rPr sz="2800" b="1" i="0">
                <a:solidFill>
                  <a:srgbClr val="25D07C"/>
                </a:solidFill>
                <a:latin typeface="Arial"/>
              </a:rPr>
              <a:t>2</a:t>
            </a:r>
          </a:p>
        </p:txBody>
      </p:sp>
      <p:sp>
        <p:nvSpPr>
          <p:cNvPr id="7" name="TextBox 6"/>
          <p:cNvSpPr txBox="1"/>
          <p:nvPr/>
        </p:nvSpPr>
        <p:spPr>
          <a:xfrm>
            <a:off x="1463040" y="3401568"/>
            <a:ext cx="10042855" cy="1005840"/>
          </a:xfrm>
          <a:prstGeom prst="rect">
            <a:avLst/>
          </a:prstGeom>
          <a:noFill/>
        </p:spPr>
        <p:txBody>
          <a:bodyPr wrap="square" anchor="t" lIns="0" rIns="0" tIns="0" bIns="0">
            <a:spAutoFit/>
          </a:bodyPr>
          <a:lstStyle/>
          <a:p>
            <a:pPr algn="l">
              <a:lnSpc>
                <a:spcPct val="115000"/>
              </a:lnSpc>
            </a:pPr>
            <a:r>
              <a:rPr sz="2100" b="0" i="0">
                <a:solidFill>
                  <a:srgbClr val="FFFFFF"/>
                </a:solidFill>
                <a:latin typeface="Arial"/>
              </a:rPr>
              <a:t>One platform replaces five line items</a:t>
            </a:r>
          </a:p>
          <a:p>
            <a:pPr algn="l">
              <a:lnSpc>
                <a:spcPct val="115000"/>
              </a:lnSpc>
            </a:pPr>
            <a:r>
              <a:rPr sz="1500" b="0" i="0">
                <a:solidFill>
                  <a:srgbClr val="FFFFFF"/>
                </a:solidFill>
                <a:latin typeface="Arial"/>
              </a:rPr>
              <a:t>Cycode, planned GitHub buy, Black Duck, Coverity, internal filter</a:t>
            </a:r>
          </a:p>
        </p:txBody>
      </p:sp>
      <p:sp>
        <p:nvSpPr>
          <p:cNvPr id="8" name="TextBox 7"/>
          <p:cNvSpPr txBox="1"/>
          <p:nvPr/>
        </p:nvSpPr>
        <p:spPr>
          <a:xfrm>
            <a:off x="685800" y="4718304"/>
            <a:ext cx="640080" cy="594360"/>
          </a:xfrm>
          <a:prstGeom prst="rect">
            <a:avLst/>
          </a:prstGeom>
          <a:noFill/>
        </p:spPr>
        <p:txBody>
          <a:bodyPr wrap="square" anchor="t" lIns="0" rIns="0" tIns="0" bIns="0">
            <a:spAutoFit/>
          </a:bodyPr>
          <a:lstStyle/>
          <a:p>
            <a:pPr algn="l"/>
            <a:r>
              <a:rPr sz="2800" b="1" i="0">
                <a:solidFill>
                  <a:srgbClr val="25D07C"/>
                </a:solidFill>
                <a:latin typeface="Arial"/>
              </a:rPr>
              <a:t>3</a:t>
            </a:r>
          </a:p>
        </p:txBody>
      </p:sp>
      <p:sp>
        <p:nvSpPr>
          <p:cNvPr id="9" name="TextBox 8"/>
          <p:cNvSpPr txBox="1"/>
          <p:nvPr/>
        </p:nvSpPr>
        <p:spPr>
          <a:xfrm>
            <a:off x="1463040" y="4791456"/>
            <a:ext cx="10042855" cy="1005840"/>
          </a:xfrm>
          <a:prstGeom prst="rect">
            <a:avLst/>
          </a:prstGeom>
          <a:noFill/>
        </p:spPr>
        <p:txBody>
          <a:bodyPr wrap="square" anchor="t" lIns="0" rIns="0" tIns="0" bIns="0">
            <a:spAutoFit/>
          </a:bodyPr>
          <a:lstStyle/>
          <a:p>
            <a:pPr algn="l">
              <a:lnSpc>
                <a:spcPct val="115000"/>
              </a:lnSpc>
            </a:pPr>
            <a:r>
              <a:rPr sz="2100" b="0" i="0">
                <a:solidFill>
                  <a:srgbClr val="FFFFFF"/>
                </a:solidFill>
                <a:latin typeface="Arial"/>
              </a:rPr>
              <a:t>92% average false positive reduction for engineers</a:t>
            </a:r>
          </a:p>
          <a:p>
            <a:pPr algn="l">
              <a:lnSpc>
                <a:spcPct val="115000"/>
              </a:lnSpc>
            </a:pPr>
            <a:r>
              <a:rPr sz="1500" b="0" i="0">
                <a:solidFill>
                  <a:srgbClr val="FFFFFF"/>
                </a:solidFill>
                <a:latin typeface="Arial"/>
              </a:rPr>
              <a:t>The noise that broke Cycode adoption</a:t>
            </a:r>
          </a:p>
        </p:txBody>
      </p:sp>
      <p:sp>
        <p:nvSpPr>
          <p:cNvPr id="10" name="TextBox 9"/>
          <p:cNvSpPr txBox="1"/>
          <p:nvPr/>
        </p:nvSpPr>
        <p:spPr>
          <a:xfrm>
            <a:off x="685800" y="6108192"/>
            <a:ext cx="640080" cy="594360"/>
          </a:xfrm>
          <a:prstGeom prst="rect">
            <a:avLst/>
          </a:prstGeom>
          <a:noFill/>
        </p:spPr>
        <p:txBody>
          <a:bodyPr wrap="square" anchor="t" lIns="0" rIns="0" tIns="0" bIns="0">
            <a:spAutoFit/>
          </a:bodyPr>
          <a:lstStyle/>
          <a:p>
            <a:pPr algn="l"/>
            <a:r>
              <a:rPr sz="2800" b="1" i="0">
                <a:solidFill>
                  <a:srgbClr val="25D07C"/>
                </a:solidFill>
                <a:latin typeface="Arial"/>
              </a:rPr>
              <a:t>4</a:t>
            </a:r>
          </a:p>
        </p:txBody>
      </p:sp>
      <p:sp>
        <p:nvSpPr>
          <p:cNvPr id="11" name="TextBox 10"/>
          <p:cNvSpPr txBox="1"/>
          <p:nvPr/>
        </p:nvSpPr>
        <p:spPr>
          <a:xfrm>
            <a:off x="1463040" y="6181344"/>
            <a:ext cx="10042855" cy="1005840"/>
          </a:xfrm>
          <a:prstGeom prst="rect">
            <a:avLst/>
          </a:prstGeom>
          <a:noFill/>
        </p:spPr>
        <p:txBody>
          <a:bodyPr wrap="square" anchor="t" lIns="0" rIns="0" tIns="0" bIns="0">
            <a:spAutoFit/>
          </a:bodyPr>
          <a:lstStyle/>
          <a:p>
            <a:pPr algn="l">
              <a:lnSpc>
                <a:spcPct val="115000"/>
              </a:lnSpc>
            </a:pPr>
            <a:r>
              <a:rPr sz="2100" b="0" i="0">
                <a:solidFill>
                  <a:srgbClr val="FFFFFF"/>
                </a:solidFill>
                <a:latin typeface="Arial"/>
              </a:rPr>
              <a:t>Under $10 per developer per month over the split stack</a:t>
            </a:r>
          </a:p>
        </p:txBody>
      </p:sp>
      <p:pic>
        <p:nvPicPr>
          <p:cNvPr id="12" name="Picture 11" descr="endor-mark.png"/>
          <p:cNvPicPr>
            <a:picLocks noChangeAspect="1"/>
          </p:cNvPicPr>
          <p:nvPr/>
        </p:nvPicPr>
        <p:blipFill>
          <a:blip r:embed="rId2"/>
          <a:stretch>
            <a:fillRect/>
          </a:stretch>
        </p:blipFill>
        <p:spPr>
          <a:xfrm>
            <a:off x="256032" y="6510528"/>
            <a:ext cx="123637" cy="137160"/>
          </a:xfrm>
          <a:prstGeom prst="rect">
            <a:avLst/>
          </a:prstGeom>
        </p:spPr>
      </p:pic>
      <p:sp>
        <p:nvSpPr>
          <p:cNvPr id="13" name="TextBox 12"/>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02</a:t>
            </a:r>
          </a:p>
        </p:txBody>
      </p:sp>
      <p:sp>
        <p:nvSpPr>
          <p:cNvPr id="14" name="TextBox 13"/>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TODAY</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Five tools, one problem</a:t>
            </a:r>
          </a:p>
        </p:txBody>
      </p:sp>
      <p:sp>
        <p:nvSpPr>
          <p:cNvPr id="4" name="4-Point Star 3"/>
          <p:cNvSpPr/>
          <p:nvPr/>
        </p:nvSpPr>
        <p:spPr>
          <a:xfrm>
            <a:off x="685800" y="2084832"/>
            <a:ext cx="164592" cy="164592"/>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011680"/>
            <a:ext cx="2743200" cy="914400"/>
          </a:xfrm>
          <a:prstGeom prst="rect">
            <a:avLst/>
          </a:prstGeom>
          <a:noFill/>
        </p:spPr>
        <p:txBody>
          <a:bodyPr wrap="square" anchor="t" lIns="0" rIns="0" tIns="0" bIns="0">
            <a:spAutoFit/>
          </a:bodyPr>
          <a:lstStyle/>
          <a:p>
            <a:pPr algn="l"/>
            <a:r>
              <a:rPr sz="1900" b="1" i="0">
                <a:solidFill>
                  <a:srgbClr val="25D07C"/>
                </a:solidFill>
                <a:latin typeface="Arial"/>
              </a:rPr>
              <a:t>Cycode</a:t>
            </a:r>
          </a:p>
        </p:txBody>
      </p:sp>
      <p:sp>
        <p:nvSpPr>
          <p:cNvPr id="6" name="TextBox 5"/>
          <p:cNvSpPr txBox="1"/>
          <p:nvPr/>
        </p:nvSpPr>
        <p:spPr>
          <a:xfrm>
            <a:off x="3931920" y="2029968"/>
            <a:ext cx="7848295" cy="914400"/>
          </a:xfrm>
          <a:prstGeom prst="rect">
            <a:avLst/>
          </a:prstGeom>
          <a:noFill/>
        </p:spPr>
        <p:txBody>
          <a:bodyPr wrap="square" anchor="t" lIns="0" rIns="0" tIns="0" bIns="0">
            <a:spAutoFit/>
          </a:bodyPr>
          <a:lstStyle/>
          <a:p>
            <a:pPr algn="l">
              <a:lnSpc>
                <a:spcPct val="125000"/>
              </a:lnSpc>
            </a:pPr>
            <a:r>
              <a:rPr sz="1650" b="0" i="0">
                <a:solidFill>
                  <a:srgbClr val="FFFFFF"/>
                </a:solidFill>
                <a:latin typeface="Arial"/>
              </a:rPr>
              <a:t>$472K a year, all engineers. Search too slow to use</a:t>
            </a:r>
          </a:p>
        </p:txBody>
      </p:sp>
      <p:sp>
        <p:nvSpPr>
          <p:cNvPr id="7" name="4-Point Star 6"/>
          <p:cNvSpPr/>
          <p:nvPr/>
        </p:nvSpPr>
        <p:spPr>
          <a:xfrm>
            <a:off x="685800" y="2999232"/>
            <a:ext cx="164592" cy="164592"/>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26080"/>
            <a:ext cx="2743200" cy="914400"/>
          </a:xfrm>
          <a:prstGeom prst="rect">
            <a:avLst/>
          </a:prstGeom>
          <a:noFill/>
        </p:spPr>
        <p:txBody>
          <a:bodyPr wrap="square" anchor="t" lIns="0" rIns="0" tIns="0" bIns="0">
            <a:spAutoFit/>
          </a:bodyPr>
          <a:lstStyle/>
          <a:p>
            <a:pPr algn="l"/>
            <a:r>
              <a:rPr sz="1900" b="1" i="0">
                <a:solidFill>
                  <a:srgbClr val="25D07C"/>
                </a:solidFill>
                <a:latin typeface="Arial"/>
              </a:rPr>
              <a:t>GitHub Secret Protection</a:t>
            </a:r>
          </a:p>
        </p:txBody>
      </p:sp>
      <p:sp>
        <p:nvSpPr>
          <p:cNvPr id="9" name="TextBox 8"/>
          <p:cNvSpPr txBox="1"/>
          <p:nvPr/>
        </p:nvSpPr>
        <p:spPr>
          <a:xfrm>
            <a:off x="3931920" y="2944368"/>
            <a:ext cx="7848295" cy="914400"/>
          </a:xfrm>
          <a:prstGeom prst="rect">
            <a:avLst/>
          </a:prstGeom>
          <a:noFill/>
        </p:spPr>
        <p:txBody>
          <a:bodyPr wrap="square" anchor="t" lIns="0" rIns="0" tIns="0" bIns="0">
            <a:spAutoFit/>
          </a:bodyPr>
          <a:lstStyle/>
          <a:p>
            <a:pPr algn="l">
              <a:lnSpc>
                <a:spcPct val="125000"/>
              </a:lnSpc>
            </a:pPr>
            <a:r>
              <a:rPr sz="1650" b="0" i="0">
                <a:solidFill>
                  <a:srgbClr val="FFFFFF"/>
                </a:solidFill>
                <a:latin typeface="Arial"/>
              </a:rPr>
              <a:t>Proposed at $250K a year, secrets only</a:t>
            </a:r>
          </a:p>
        </p:txBody>
      </p:sp>
      <p:sp>
        <p:nvSpPr>
          <p:cNvPr id="10" name="4-Point Star 9"/>
          <p:cNvSpPr/>
          <p:nvPr/>
        </p:nvSpPr>
        <p:spPr>
          <a:xfrm>
            <a:off x="685800" y="3913632"/>
            <a:ext cx="164592" cy="164592"/>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840480"/>
            <a:ext cx="2743200" cy="914400"/>
          </a:xfrm>
          <a:prstGeom prst="rect">
            <a:avLst/>
          </a:prstGeom>
          <a:noFill/>
        </p:spPr>
        <p:txBody>
          <a:bodyPr wrap="square" anchor="t" lIns="0" rIns="0" tIns="0" bIns="0">
            <a:spAutoFit/>
          </a:bodyPr>
          <a:lstStyle/>
          <a:p>
            <a:pPr algn="l"/>
            <a:r>
              <a:rPr sz="1900" b="1" i="0">
                <a:solidFill>
                  <a:srgbClr val="25D07C"/>
                </a:solidFill>
                <a:latin typeface="Arial"/>
              </a:rPr>
              <a:t>Endor Labs</a:t>
            </a:r>
          </a:p>
        </p:txBody>
      </p:sp>
      <p:sp>
        <p:nvSpPr>
          <p:cNvPr id="12" name="TextBox 11"/>
          <p:cNvSpPr txBox="1"/>
          <p:nvPr/>
        </p:nvSpPr>
        <p:spPr>
          <a:xfrm>
            <a:off x="3931920" y="3858768"/>
            <a:ext cx="7848295" cy="914400"/>
          </a:xfrm>
          <a:prstGeom prst="rect">
            <a:avLst/>
          </a:prstGeom>
          <a:noFill/>
        </p:spPr>
        <p:txBody>
          <a:bodyPr wrap="square" anchor="t" lIns="0" rIns="0" tIns="0" bIns="0">
            <a:spAutoFit/>
          </a:bodyPr>
          <a:lstStyle/>
          <a:p>
            <a:pPr algn="l">
              <a:lnSpc>
                <a:spcPct val="125000"/>
              </a:lnSpc>
            </a:pPr>
            <a:r>
              <a:rPr sz="1650" b="0" i="0">
                <a:solidFill>
                  <a:srgbClr val="FFFFFF"/>
                </a:solidFill>
                <a:latin typeface="Arial"/>
              </a:rPr>
              <a:t>Live on the Engine, 1,000 developers, adoption rated green</a:t>
            </a:r>
          </a:p>
        </p:txBody>
      </p:sp>
      <p:sp>
        <p:nvSpPr>
          <p:cNvPr id="13" name="4-Point Star 12"/>
          <p:cNvSpPr/>
          <p:nvPr/>
        </p:nvSpPr>
        <p:spPr>
          <a:xfrm>
            <a:off x="685800" y="4828032"/>
            <a:ext cx="164592" cy="164592"/>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754880"/>
            <a:ext cx="2743200" cy="914400"/>
          </a:xfrm>
          <a:prstGeom prst="rect">
            <a:avLst/>
          </a:prstGeom>
          <a:noFill/>
        </p:spPr>
        <p:txBody>
          <a:bodyPr wrap="square" anchor="t" lIns="0" rIns="0" tIns="0" bIns="0">
            <a:spAutoFit/>
          </a:bodyPr>
          <a:lstStyle/>
          <a:p>
            <a:pPr algn="l"/>
            <a:r>
              <a:rPr sz="1900" b="1" i="0">
                <a:solidFill>
                  <a:srgbClr val="25D07C"/>
                </a:solidFill>
                <a:latin typeface="Arial"/>
              </a:rPr>
              <a:t>Black Duck + Coverity</a:t>
            </a:r>
          </a:p>
        </p:txBody>
      </p:sp>
      <p:sp>
        <p:nvSpPr>
          <p:cNvPr id="15" name="TextBox 14"/>
          <p:cNvSpPr txBox="1"/>
          <p:nvPr/>
        </p:nvSpPr>
        <p:spPr>
          <a:xfrm>
            <a:off x="3931920" y="4773168"/>
            <a:ext cx="7848295" cy="914400"/>
          </a:xfrm>
          <a:prstGeom prst="rect">
            <a:avLst/>
          </a:prstGeom>
          <a:noFill/>
        </p:spPr>
        <p:txBody>
          <a:bodyPr wrap="square" anchor="t" lIns="0" rIns="0" tIns="0" bIns="0">
            <a:spAutoFit/>
          </a:bodyPr>
          <a:lstStyle/>
          <a:p>
            <a:pPr algn="l">
              <a:lnSpc>
                <a:spcPct val="125000"/>
              </a:lnSpc>
            </a:pPr>
            <a:r>
              <a:rPr sz="1650" b="0" i="0">
                <a:solidFill>
                  <a:srgbClr val="FFFFFF"/>
                </a:solidFill>
                <a:latin typeface="Arial"/>
              </a:rPr>
              <a:t>Legacy scanners the Engine team still maintains</a:t>
            </a:r>
          </a:p>
        </p:txBody>
      </p:sp>
      <p:sp>
        <p:nvSpPr>
          <p:cNvPr id="16" name="4-Point Star 15"/>
          <p:cNvSpPr/>
          <p:nvPr/>
        </p:nvSpPr>
        <p:spPr>
          <a:xfrm>
            <a:off x="685800" y="5742432"/>
            <a:ext cx="164592" cy="164592"/>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5669280"/>
            <a:ext cx="2743200" cy="914400"/>
          </a:xfrm>
          <a:prstGeom prst="rect">
            <a:avLst/>
          </a:prstGeom>
          <a:noFill/>
        </p:spPr>
        <p:txBody>
          <a:bodyPr wrap="square" anchor="t" lIns="0" rIns="0" tIns="0" bIns="0">
            <a:spAutoFit/>
          </a:bodyPr>
          <a:lstStyle/>
          <a:p>
            <a:pPr algn="l"/>
            <a:r>
              <a:rPr sz="1900" b="1" i="0">
                <a:solidFill>
                  <a:srgbClr val="25D07C"/>
                </a:solidFill>
                <a:latin typeface="Arial"/>
              </a:rPr>
              <a:t>Homegrown filter</a:t>
            </a:r>
          </a:p>
        </p:txBody>
      </p:sp>
      <p:sp>
        <p:nvSpPr>
          <p:cNvPr id="18" name="TextBox 17"/>
          <p:cNvSpPr txBox="1"/>
          <p:nvPr/>
        </p:nvSpPr>
        <p:spPr>
          <a:xfrm>
            <a:off x="3931920" y="5687568"/>
            <a:ext cx="7848295" cy="914400"/>
          </a:xfrm>
          <a:prstGeom prst="rect">
            <a:avLst/>
          </a:prstGeom>
          <a:noFill/>
        </p:spPr>
        <p:txBody>
          <a:bodyPr wrap="square" anchor="t" lIns="0" rIns="0" tIns="0" bIns="0">
            <a:spAutoFit/>
          </a:bodyPr>
          <a:lstStyle/>
          <a:p>
            <a:pPr algn="l">
              <a:lnSpc>
                <a:spcPct val="125000"/>
              </a:lnSpc>
            </a:pPr>
            <a:r>
              <a:rPr sz="1650" b="0" i="0">
                <a:solidFill>
                  <a:srgbClr val="FFFFFF"/>
                </a:solidFill>
                <a:latin typeface="Arial"/>
              </a:rPr>
              <a:t>A re-scoring layer Unity built to survive the noise</a:t>
            </a:r>
          </a:p>
        </p:txBody>
      </p:sp>
      <p:pic>
        <p:nvPicPr>
          <p:cNvPr id="19" name="Picture 18" descr="endor-mark.png"/>
          <p:cNvPicPr>
            <a:picLocks noChangeAspect="1"/>
          </p:cNvPicPr>
          <p:nvPr/>
        </p:nvPicPr>
        <p:blipFill>
          <a:blip r:embed="rId2"/>
          <a:stretch>
            <a:fillRect/>
          </a:stretch>
        </p:blipFill>
        <p:spPr>
          <a:xfrm>
            <a:off x="256032" y="6510528"/>
            <a:ext cx="123637" cy="137160"/>
          </a:xfrm>
          <a:prstGeom prst="rect">
            <a:avLst/>
          </a:prstGeom>
        </p:spPr>
      </p:pic>
      <p:sp>
        <p:nvSpPr>
          <p:cNvPr id="20" name="TextBox 19"/>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03</a:t>
            </a:r>
          </a:p>
        </p:txBody>
      </p:sp>
      <p:sp>
        <p:nvSpPr>
          <p:cNvPr id="21" name="TextBox 20"/>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WHY NOW</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Three clocks are running</a:t>
            </a:r>
          </a:p>
        </p:txBody>
      </p:sp>
      <p:sp>
        <p:nvSpPr>
          <p:cNvPr id="4" name="Rectangle 3"/>
          <p:cNvSpPr/>
          <p:nvPr/>
        </p:nvSpPr>
        <p:spPr>
          <a:xfrm>
            <a:off x="685800" y="1691639"/>
            <a:ext cx="10820095" cy="1397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011679"/>
            <a:ext cx="3332378" cy="292608"/>
          </a:xfrm>
          <a:prstGeom prst="rect">
            <a:avLst/>
          </a:prstGeom>
          <a:noFill/>
        </p:spPr>
        <p:txBody>
          <a:bodyPr wrap="square" anchor="t" lIns="0" rIns="0" tIns="0" bIns="0">
            <a:spAutoFit/>
          </a:bodyPr>
          <a:lstStyle/>
          <a:p>
            <a:pPr algn="l"/>
            <a:r>
              <a:rPr sz="1150" b="1" i="0" spc="220">
                <a:solidFill>
                  <a:srgbClr val="25D07C"/>
                </a:solidFill>
                <a:latin typeface="Arial"/>
              </a:rPr>
              <a:t>THE INCIDENT</a:t>
            </a:r>
          </a:p>
        </p:txBody>
      </p:sp>
      <p:sp>
        <p:nvSpPr>
          <p:cNvPr id="6" name="TextBox 5"/>
          <p:cNvSpPr txBox="1"/>
          <p:nvPr/>
        </p:nvSpPr>
        <p:spPr>
          <a:xfrm>
            <a:off x="704088" y="2414015"/>
            <a:ext cx="3332378" cy="685800"/>
          </a:xfrm>
          <a:prstGeom prst="rect">
            <a:avLst/>
          </a:prstGeom>
          <a:noFill/>
        </p:spPr>
        <p:txBody>
          <a:bodyPr wrap="square" anchor="t" lIns="0" rIns="0" tIns="0" bIns="0">
            <a:spAutoFit/>
          </a:bodyPr>
          <a:lstStyle/>
          <a:p>
            <a:pPr algn="l">
              <a:lnSpc>
                <a:spcPct val="110000"/>
              </a:lnSpc>
            </a:pPr>
            <a:r>
              <a:rPr sz="1900" b="1" i="0">
                <a:solidFill>
                  <a:srgbClr val="25D07C"/>
                </a:solidFill>
                <a:latin typeface="Arial"/>
              </a:rPr>
              <a:t>The bar is set</a:t>
            </a:r>
          </a:p>
        </p:txBody>
      </p:sp>
      <p:sp>
        <p:nvSpPr>
          <p:cNvPr id="7" name="TextBox 6"/>
          <p:cNvSpPr txBox="1"/>
          <p:nvPr/>
        </p:nvSpPr>
        <p:spPr>
          <a:xfrm>
            <a:off x="978408" y="2871215"/>
            <a:ext cx="3058058"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One malicious package started it</a:t>
            </a:r>
          </a:p>
        </p:txBody>
      </p:sp>
      <p:sp>
        <p:nvSpPr>
          <p:cNvPr id="8" name="4-Point Star 7"/>
          <p:cNvSpPr/>
          <p:nvPr/>
        </p:nvSpPr>
        <p:spPr>
          <a:xfrm>
            <a:off x="704088" y="2907791"/>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3337559"/>
            <a:ext cx="3058058"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7,500 repos taken, secrets inside</a:t>
            </a:r>
          </a:p>
        </p:txBody>
      </p:sp>
      <p:sp>
        <p:nvSpPr>
          <p:cNvPr id="10" name="4-Point Star 9"/>
          <p:cNvSpPr/>
          <p:nvPr/>
        </p:nvSpPr>
        <p:spPr>
          <a:xfrm>
            <a:off x="704088" y="3374135"/>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803903"/>
            <a:ext cx="3058058"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The scanner missed them</a:t>
            </a:r>
          </a:p>
        </p:txBody>
      </p:sp>
      <p:sp>
        <p:nvSpPr>
          <p:cNvPr id="12" name="4-Point Star 11"/>
          <p:cNvSpPr/>
          <p:nvPr/>
        </p:nvSpPr>
        <p:spPr>
          <a:xfrm>
            <a:off x="704088" y="3840479"/>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6818" y="2011679"/>
            <a:ext cx="3076346" cy="292608"/>
          </a:xfrm>
          <a:prstGeom prst="rect">
            <a:avLst/>
          </a:prstGeom>
          <a:noFill/>
        </p:spPr>
        <p:txBody>
          <a:bodyPr wrap="square" anchor="t" lIns="0" rIns="0" tIns="0" bIns="0">
            <a:spAutoFit/>
          </a:bodyPr>
          <a:lstStyle/>
          <a:p>
            <a:pPr algn="l"/>
            <a:r>
              <a:rPr sz="1150" b="1" i="0" spc="220">
                <a:solidFill>
                  <a:srgbClr val="25D07C"/>
                </a:solidFill>
                <a:latin typeface="Arial"/>
              </a:rPr>
              <a:t>THE RENEWAL</a:t>
            </a:r>
          </a:p>
        </p:txBody>
      </p:sp>
      <p:sp>
        <p:nvSpPr>
          <p:cNvPr id="14" name="TextBox 13"/>
          <p:cNvSpPr txBox="1"/>
          <p:nvPr/>
        </p:nvSpPr>
        <p:spPr>
          <a:xfrm>
            <a:off x="4566818" y="2414015"/>
            <a:ext cx="3076346" cy="685800"/>
          </a:xfrm>
          <a:prstGeom prst="rect">
            <a:avLst/>
          </a:prstGeom>
          <a:noFill/>
        </p:spPr>
        <p:txBody>
          <a:bodyPr wrap="square" anchor="t" lIns="0" rIns="0" tIns="0" bIns="0">
            <a:spAutoFit/>
          </a:bodyPr>
          <a:lstStyle/>
          <a:p>
            <a:pPr algn="l">
              <a:lnSpc>
                <a:spcPct val="110000"/>
              </a:lnSpc>
            </a:pPr>
            <a:r>
              <a:rPr sz="1900" b="1" i="0">
                <a:solidFill>
                  <a:srgbClr val="25D07C"/>
                </a:solidFill>
                <a:latin typeface="Arial"/>
              </a:rPr>
              <a:t>The window is open</a:t>
            </a:r>
          </a:p>
        </p:txBody>
      </p:sp>
      <p:sp>
        <p:nvSpPr>
          <p:cNvPr id="15" name="TextBox 14"/>
          <p:cNvSpPr txBox="1"/>
          <p:nvPr/>
        </p:nvSpPr>
        <p:spPr>
          <a:xfrm>
            <a:off x="4841138" y="2871215"/>
            <a:ext cx="2802026"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Cycode renews in December</a:t>
            </a:r>
          </a:p>
        </p:txBody>
      </p:sp>
      <p:sp>
        <p:nvSpPr>
          <p:cNvPr id="16" name="4-Point Star 15"/>
          <p:cNvSpPr/>
          <p:nvPr/>
        </p:nvSpPr>
        <p:spPr>
          <a:xfrm>
            <a:off x="4566818" y="2907791"/>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1138" y="3337559"/>
            <a:ext cx="2802026"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Budgets close in November</a:t>
            </a:r>
          </a:p>
        </p:txBody>
      </p:sp>
      <p:sp>
        <p:nvSpPr>
          <p:cNvPr id="18" name="4-Point Star 17"/>
          <p:cNvSpPr/>
          <p:nvPr/>
        </p:nvSpPr>
        <p:spPr>
          <a:xfrm>
            <a:off x="4566818" y="3374135"/>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1138" y="3803903"/>
            <a:ext cx="2802026"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Finance hears the ask September 8</a:t>
            </a:r>
          </a:p>
        </p:txBody>
      </p:sp>
      <p:sp>
        <p:nvSpPr>
          <p:cNvPr id="20" name="4-Point Star 19"/>
          <p:cNvSpPr/>
          <p:nvPr/>
        </p:nvSpPr>
        <p:spPr>
          <a:xfrm>
            <a:off x="4566818" y="3840479"/>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3516" y="2011679"/>
            <a:ext cx="3076346" cy="292608"/>
          </a:xfrm>
          <a:prstGeom prst="rect">
            <a:avLst/>
          </a:prstGeom>
          <a:noFill/>
        </p:spPr>
        <p:txBody>
          <a:bodyPr wrap="square" anchor="t" lIns="0" rIns="0" tIns="0" bIns="0">
            <a:spAutoFit/>
          </a:bodyPr>
          <a:lstStyle/>
          <a:p>
            <a:pPr algn="l"/>
            <a:r>
              <a:rPr sz="1150" b="1" i="0" spc="220">
                <a:solidFill>
                  <a:srgbClr val="25D07C"/>
                </a:solidFill>
                <a:latin typeface="Arial"/>
              </a:rPr>
              <a:t>THE MANDATE</a:t>
            </a:r>
          </a:p>
        </p:txBody>
      </p:sp>
      <p:sp>
        <p:nvSpPr>
          <p:cNvPr id="22" name="TextBox 21"/>
          <p:cNvSpPr txBox="1"/>
          <p:nvPr/>
        </p:nvSpPr>
        <p:spPr>
          <a:xfrm>
            <a:off x="8173516" y="2414015"/>
            <a:ext cx="3076346" cy="685800"/>
          </a:xfrm>
          <a:prstGeom prst="rect">
            <a:avLst/>
          </a:prstGeom>
          <a:noFill/>
        </p:spPr>
        <p:txBody>
          <a:bodyPr wrap="square" anchor="t" lIns="0" rIns="0" tIns="0" bIns="0">
            <a:spAutoFit/>
          </a:bodyPr>
          <a:lstStyle/>
          <a:p>
            <a:pPr algn="l">
              <a:lnSpc>
                <a:spcPct val="110000"/>
              </a:lnSpc>
            </a:pPr>
            <a:r>
              <a:rPr sz="1900" b="1" i="0">
                <a:solidFill>
                  <a:srgbClr val="25D07C"/>
                </a:solidFill>
                <a:latin typeface="Arial"/>
              </a:rPr>
              <a:t>The rules changed</a:t>
            </a:r>
          </a:p>
        </p:txBody>
      </p:sp>
      <p:sp>
        <p:nvSpPr>
          <p:cNvPr id="23" name="TextBox 22"/>
          <p:cNvSpPr txBox="1"/>
          <p:nvPr/>
        </p:nvSpPr>
        <p:spPr>
          <a:xfrm>
            <a:off x="8447836" y="2871215"/>
            <a:ext cx="2802026"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Security now reports into engineering</a:t>
            </a:r>
          </a:p>
        </p:txBody>
      </p:sp>
      <p:sp>
        <p:nvSpPr>
          <p:cNvPr id="24" name="4-Point Star 23"/>
          <p:cNvSpPr/>
          <p:nvPr/>
        </p:nvSpPr>
        <p:spPr>
          <a:xfrm>
            <a:off x="8173516" y="2907791"/>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7836" y="3621024"/>
            <a:ext cx="2802026"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Tools engineers avoid are failed controls</a:t>
            </a:r>
          </a:p>
        </p:txBody>
      </p:sp>
      <p:sp>
        <p:nvSpPr>
          <p:cNvPr id="26" name="4-Point Star 25"/>
          <p:cNvSpPr/>
          <p:nvPr/>
        </p:nvSpPr>
        <p:spPr>
          <a:xfrm>
            <a:off x="8173516" y="3657600"/>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47836" y="4370832"/>
            <a:ext cx="2802026"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AI is writing more of the code</a:t>
            </a:r>
          </a:p>
        </p:txBody>
      </p:sp>
      <p:sp>
        <p:nvSpPr>
          <p:cNvPr id="28" name="4-Point Star 27"/>
          <p:cNvSpPr/>
          <p:nvPr/>
        </p:nvSpPr>
        <p:spPr>
          <a:xfrm>
            <a:off x="8173516" y="440740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55338" y="1920239"/>
            <a:ext cx="16459" cy="2962656"/>
          </a:xfrm>
          <a:prstGeom prst="rect">
            <a:avLst/>
          </a:prstGeom>
          <a:gradFill rotWithShape="1">
            <a:gsLst>
              <a:gs pos="0">
                <a:srgbClr val="25D07C"/>
              </a:gs>
              <a:gs pos="100000">
                <a:srgbClr val="8B6CF2"/>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62036" y="1920239"/>
            <a:ext cx="16459" cy="2962656"/>
          </a:xfrm>
          <a:prstGeom prst="rect">
            <a:avLst/>
          </a:prstGeom>
          <a:gradFill rotWithShape="1">
            <a:gsLst>
              <a:gs pos="0">
                <a:srgbClr val="25D07C"/>
              </a:gs>
              <a:gs pos="100000">
                <a:srgbClr val="8B6CF2"/>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endor-mark.png"/>
          <p:cNvPicPr>
            <a:picLocks noChangeAspect="1"/>
          </p:cNvPicPr>
          <p:nvPr/>
        </p:nvPicPr>
        <p:blipFill>
          <a:blip r:embed="rId2"/>
          <a:stretch>
            <a:fillRect/>
          </a:stretch>
        </p:blipFill>
        <p:spPr>
          <a:xfrm>
            <a:off x="256032" y="6510528"/>
            <a:ext cx="123637" cy="137160"/>
          </a:xfrm>
          <a:prstGeom prst="rect">
            <a:avLst/>
          </a:prstGeom>
        </p:spPr>
      </p:pic>
      <p:sp>
        <p:nvSpPr>
          <p:cNvPr id="32" name="TextBox 31"/>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04</a:t>
            </a:r>
          </a:p>
        </p:txBody>
      </p:sp>
      <p:sp>
        <p:nvSpPr>
          <p:cNvPr id="33" name="TextBox 32"/>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THE SCORECARD</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Unity already wrote the test</a:t>
            </a:r>
          </a:p>
        </p:txBody>
      </p:sp>
      <p:graphicFrame>
        <p:nvGraphicFramePr>
          <p:cNvPr id="4" name="Table 3"/>
          <p:cNvGraphicFramePr>
            <a:graphicFrameLocks noGrp="1"/>
          </p:cNvGraphicFramePr>
          <p:nvPr/>
        </p:nvGraphicFramePr>
        <p:xfrm>
          <a:off x="685800" y="1737360"/>
          <a:ext cx="10817352" cy="4526280"/>
        </p:xfrm>
        <a:graphic>
          <a:graphicData uri="http://schemas.openxmlformats.org/drawingml/2006/table">
            <a:tbl>
              <a:tblPr>
                <a:tableStyleId>{5C22544A-7EE6-4342-B048-85BDC9FD1C3A}</a:tableStyleId>
              </a:tblPr>
              <a:tblGrid>
                <a:gridCol w="2834640"/>
                <a:gridCol w="3986784"/>
                <a:gridCol w="3995928"/>
              </a:tblGrid>
              <a:tr h="754380">
                <a:tc>
                  <a:txBody>
                    <a:bodyPr wrap="square"/>
                    <a:lstStyle/>
                    <a:p>
                      <a:pPr algn="l">
                        <a:lnSpc>
                          <a:spcPct val="115000"/>
                        </a:lnSpc>
                      </a:pPr>
                      <a:r>
                        <a:rPr sz="1300" b="1" i="0">
                          <a:solidFill>
                            <a:srgbClr val="25D07C"/>
                          </a:solidFill>
                          <a:latin typeface="Arial"/>
                        </a:rPr>
                        <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ctr">
                        <a:lnSpc>
                          <a:spcPct val="115000"/>
                        </a:lnSpc>
                      </a:pPr>
                      <a:r>
                        <a:rPr sz="1450" b="1" i="0">
                          <a:solidFill>
                            <a:srgbClr val="FFFFFF"/>
                          </a:solidFill>
                          <a:latin typeface="Arial"/>
                        </a:rPr>
                        <a:t>Split stack</a:t>
                      </a:r>
                    </a:p>
                  </a:txBody>
                  <a:tcPr marL="128016" marR="128016" marT="64008" marB="64008" anchor="ctr">
                    <a:solidFill>
                      <a:srgbClr val="43484D"/>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ctr">
                        <a:lnSpc>
                          <a:spcPct val="115000"/>
                        </a:lnSpc>
                      </a:pPr>
                      <a:r>
                        <a:rPr sz="1450" b="1" i="0">
                          <a:solidFill>
                            <a:srgbClr val="04160C"/>
                          </a:solidFill>
                          <a:latin typeface="Arial"/>
                        </a:rPr>
                        <a:t>Endor Labs</a:t>
                      </a:r>
                    </a:p>
                  </a:txBody>
                  <a:tcPr marL="128016" marR="128016" marT="64008" marB="64008" anchor="ctr">
                    <a:solidFill>
                      <a:srgbClr val="25D07C"/>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r h="754380">
                <a:tc>
                  <a:txBody>
                    <a:bodyPr wrap="square"/>
                    <a:lstStyle/>
                    <a:p>
                      <a:pPr algn="l">
                        <a:lnSpc>
                          <a:spcPct val="115000"/>
                        </a:lnSpc>
                      </a:pPr>
                      <a:r>
                        <a:rPr sz="1350" b="1" i="0">
                          <a:solidFill>
                            <a:srgbClr val="25D07C"/>
                          </a:solidFill>
                          <a:latin typeface="Arial"/>
                        </a:rPr>
                        <a:t>Engineer experience</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E0A552"/>
                          </a:solidFill>
                          <a:latin typeface="Arial"/>
                        </a:rPr>
                        <a:t>△  </a:t>
                      </a:r>
                      <a:r>
                        <a:rPr sz="1250" b="0" i="0">
                          <a:solidFill>
                            <a:srgbClr val="E2E2E2"/>
                          </a:solidFill>
                          <a:latin typeface="Arial"/>
                        </a:rPr>
                        <a:t>Cycode disrupts. GitHub, secrets only.</a:t>
                      </a:r>
                    </a:p>
                  </a:txBody>
                  <a:tcPr marL="128016" marR="128016" marT="64008" marB="64008" anchor="ctr">
                    <a:solidFill>
                      <a:srgbClr val="101010"/>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08F078"/>
                          </a:solidFill>
                          <a:latin typeface="Arial"/>
                        </a:rPr>
                        <a:t>✓  </a:t>
                      </a:r>
                      <a:r>
                        <a:rPr sz="1250" b="0" i="0">
                          <a:solidFill>
                            <a:srgbClr val="F0F6F1"/>
                          </a:solidFill>
                          <a:latin typeface="Arial"/>
                        </a:rPr>
                        <a:t>In the PR. 92% average false positive reduction.</a:t>
                      </a:r>
                    </a:p>
                  </a:txBody>
                  <a:tcPr marL="128016" marR="128016" marT="64008" marB="64008" anchor="ctr">
                    <a:solidFill>
                      <a:srgbClr val="0D2013"/>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r h="754380">
                <a:tc>
                  <a:txBody>
                    <a:bodyPr wrap="square"/>
                    <a:lstStyle/>
                    <a:p>
                      <a:pPr algn="l">
                        <a:lnSpc>
                          <a:spcPct val="115000"/>
                        </a:lnSpc>
                      </a:pPr>
                      <a:r>
                        <a:rPr sz="1350" b="1" i="0">
                          <a:solidFill>
                            <a:srgbClr val="25D07C"/>
                          </a:solidFill>
                          <a:latin typeface="Arial"/>
                        </a:rPr>
                        <a:t>Security oversight</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E05252"/>
                          </a:solidFill>
                          <a:latin typeface="Arial"/>
                        </a:rPr>
                        <a:t>✗  </a:t>
                      </a:r>
                      <a:r>
                        <a:rPr sz="1250" b="0" i="0">
                          <a:solidFill>
                            <a:srgbClr val="E2E2E2"/>
                          </a:solidFill>
                          <a:latin typeface="Arial"/>
                        </a:rPr>
                        <a:t>Push protection skips AppSec review.</a:t>
                      </a:r>
                    </a:p>
                  </a:txBody>
                  <a:tcPr marL="128016" marR="128016" marT="64008" marB="64008" anchor="ctr">
                    <a:solidFill>
                      <a:srgbClr val="101010"/>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08F078"/>
                          </a:solidFill>
                          <a:latin typeface="Arial"/>
                        </a:rPr>
                        <a:t>✓  </a:t>
                      </a:r>
                      <a:r>
                        <a:rPr sz="1250" b="0" i="0">
                          <a:solidFill>
                            <a:srgbClr val="F0F6F1"/>
                          </a:solidFill>
                          <a:latin typeface="Arial"/>
                        </a:rPr>
                        <a:t>One policy engine, exceptions, audit.</a:t>
                      </a:r>
                    </a:p>
                  </a:txBody>
                  <a:tcPr marL="128016" marR="128016" marT="64008" marB="64008" anchor="ctr">
                    <a:solidFill>
                      <a:srgbClr val="0D2013"/>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r h="754380">
                <a:tc>
                  <a:txBody>
                    <a:bodyPr wrap="square"/>
                    <a:lstStyle/>
                    <a:p>
                      <a:pPr algn="l">
                        <a:lnSpc>
                          <a:spcPct val="115000"/>
                        </a:lnSpc>
                      </a:pPr>
                      <a:r>
                        <a:rPr sz="1350" b="1" i="0">
                          <a:solidFill>
                            <a:srgbClr val="25D07C"/>
                          </a:solidFill>
                          <a:latin typeface="Arial"/>
                        </a:rPr>
                        <a:t>Risk thresholds</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E05252"/>
                          </a:solidFill>
                          <a:latin typeface="Arial"/>
                        </a:rPr>
                        <a:t>✗  </a:t>
                      </a:r>
                      <a:r>
                        <a:rPr sz="1250" b="0" i="0">
                          <a:solidFill>
                            <a:srgbClr val="E2E2E2"/>
                          </a:solidFill>
                          <a:latin typeface="Arial"/>
                        </a:rPr>
                        <a:t>Unity built its own filter.</a:t>
                      </a:r>
                    </a:p>
                  </a:txBody>
                  <a:tcPr marL="128016" marR="128016" marT="64008" marB="64008" anchor="ctr">
                    <a:solidFill>
                      <a:srgbClr val="101010"/>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08F078"/>
                          </a:solidFill>
                          <a:latin typeface="Arial"/>
                        </a:rPr>
                        <a:t>✓  </a:t>
                      </a:r>
                      <a:r>
                        <a:rPr sz="1250" b="0" i="0">
                          <a:solidFill>
                            <a:srgbClr val="F0F6F1"/>
                          </a:solidFill>
                          <a:latin typeface="Arial"/>
                        </a:rPr>
                        <a:t>Gates only reachable, confident findings.</a:t>
                      </a:r>
                    </a:p>
                  </a:txBody>
                  <a:tcPr marL="128016" marR="128016" marT="64008" marB="64008" anchor="ctr">
                    <a:solidFill>
                      <a:srgbClr val="0D2013"/>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r h="754380">
                <a:tc>
                  <a:txBody>
                    <a:bodyPr wrap="square"/>
                    <a:lstStyle/>
                    <a:p>
                      <a:pPr algn="l">
                        <a:lnSpc>
                          <a:spcPct val="115000"/>
                        </a:lnSpc>
                      </a:pPr>
                      <a:r>
                        <a:rPr sz="1350" b="1" i="0">
                          <a:solidFill>
                            <a:srgbClr val="25D07C"/>
                          </a:solidFill>
                          <a:latin typeface="Arial"/>
                        </a:rPr>
                        <a:t>Covers the Engine</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E05252"/>
                          </a:solidFill>
                          <a:latin typeface="Arial"/>
                        </a:rPr>
                        <a:t>✗  </a:t>
                      </a:r>
                      <a:r>
                        <a:rPr sz="1250" b="0" i="0">
                          <a:solidFill>
                            <a:srgbClr val="E2E2E2"/>
                          </a:solidFill>
                          <a:latin typeface="Arial"/>
                        </a:rPr>
                        <a:t>No manifest free C, C++, C#.</a:t>
                      </a:r>
                    </a:p>
                  </a:txBody>
                  <a:tcPr marL="128016" marR="128016" marT="64008" marB="64008" anchor="ctr">
                    <a:solidFill>
                      <a:srgbClr val="101010"/>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08F078"/>
                          </a:solidFill>
                          <a:latin typeface="Arial"/>
                        </a:rPr>
                        <a:t>✓  </a:t>
                      </a:r>
                      <a:r>
                        <a:rPr sz="1250" b="0" i="0">
                          <a:solidFill>
                            <a:srgbClr val="F0F6F1"/>
                          </a:solidFill>
                          <a:latin typeface="Arial"/>
                        </a:rPr>
                        <a:t>Running on the Engine today.</a:t>
                      </a:r>
                    </a:p>
                  </a:txBody>
                  <a:tcPr marL="128016" marR="128016" marT="64008" marB="64008" anchor="ctr">
                    <a:solidFill>
                      <a:srgbClr val="0D2013"/>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r h="754380">
                <a:tc>
                  <a:txBody>
                    <a:bodyPr wrap="square"/>
                    <a:lstStyle/>
                    <a:p>
                      <a:pPr algn="l">
                        <a:lnSpc>
                          <a:spcPct val="115000"/>
                        </a:lnSpc>
                      </a:pPr>
                      <a:r>
                        <a:rPr sz="1350" b="1" i="0">
                          <a:solidFill>
                            <a:srgbClr val="25D07C"/>
                          </a:solidFill>
                          <a:latin typeface="Arial"/>
                        </a:rPr>
                        <a:t>Blocks secrets</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E0A552"/>
                          </a:solidFill>
                          <a:latin typeface="Arial"/>
                        </a:rPr>
                        <a:t>△  </a:t>
                      </a:r>
                      <a:r>
                        <a:rPr sz="1250" b="0" i="0">
                          <a:solidFill>
                            <a:srgbClr val="E2E2E2"/>
                          </a:solidFill>
                          <a:latin typeface="Arial"/>
                        </a:rPr>
                        <a:t>GitHub blocks at push, strong there.</a:t>
                      </a:r>
                    </a:p>
                  </a:txBody>
                  <a:tcPr marL="128016" marR="128016" marT="64008" marB="64008" anchor="ctr">
                    <a:solidFill>
                      <a:srgbClr val="101010"/>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08F078"/>
                          </a:solidFill>
                          <a:latin typeface="Arial"/>
                        </a:rPr>
                        <a:t>✓  </a:t>
                      </a:r>
                      <a:r>
                        <a:rPr sz="1250" b="0" i="0">
                          <a:solidFill>
                            <a:srgbClr val="F0F6F1"/>
                          </a:solidFill>
                          <a:latin typeface="Arial"/>
                        </a:rPr>
                        <a:t>Blocks pre commit, checks liveness.</a:t>
                      </a:r>
                    </a:p>
                  </a:txBody>
                  <a:tcPr marL="128016" marR="128016" marT="64008" marB="64008" anchor="ctr">
                    <a:solidFill>
                      <a:srgbClr val="0D2013"/>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bl>
          </a:graphicData>
        </a:graphic>
      </p:graphicFrame>
      <p:pic>
        <p:nvPicPr>
          <p:cNvPr id="5" name="Picture 4" descr="endor-mark.png"/>
          <p:cNvPicPr>
            <a:picLocks noChangeAspect="1"/>
          </p:cNvPicPr>
          <p:nvPr/>
        </p:nvPicPr>
        <p:blipFill>
          <a:blip r:embed="rId2"/>
          <a:stretch>
            <a:fillRect/>
          </a:stretch>
        </p:blipFill>
        <p:spPr>
          <a:xfrm>
            <a:off x="256032" y="6510528"/>
            <a:ext cx="123637" cy="137160"/>
          </a:xfrm>
          <a:prstGeom prst="rect">
            <a:avLst/>
          </a:prstGeom>
        </p:spPr>
      </p:pic>
      <p:sp>
        <p:nvSpPr>
          <p:cNvPr id="6" name="TextBox 5"/>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05</a:t>
            </a:r>
          </a:p>
        </p:txBody>
      </p:sp>
      <p:sp>
        <p:nvSpPr>
          <p:cNvPr id="7" name="TextBox 6"/>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METRIC 1 OF 5</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Engineer experience is the number one metric</a:t>
            </a:r>
          </a:p>
        </p:txBody>
      </p:sp>
      <p:sp>
        <p:nvSpPr>
          <p:cNvPr id="4" name="Rectangle 3"/>
          <p:cNvSpPr/>
          <p:nvPr/>
        </p:nvSpPr>
        <p:spPr>
          <a:xfrm>
            <a:off x="685800" y="1828800"/>
            <a:ext cx="5158587" cy="3840479"/>
          </a:xfrm>
          <a:prstGeom prst="rect">
            <a:avLst/>
          </a:prstGeom>
          <a:solidFill>
            <a:srgbClr val="111111"/>
          </a:solidFill>
          <a:ln>
            <a:noFill/>
          </a:ln>
          <a:effectLst>
            <a:outerShdw blurRad="276225" dist="47625" dir="5400000" rotWithShape="0">
              <a:srgbClr val="E05252">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828800"/>
            <a:ext cx="5158587" cy="4572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76272"/>
            <a:ext cx="4518507" cy="292608"/>
          </a:xfrm>
          <a:prstGeom prst="rect">
            <a:avLst/>
          </a:prstGeom>
          <a:noFill/>
        </p:spPr>
        <p:txBody>
          <a:bodyPr wrap="square" anchor="t" lIns="0" rIns="0" tIns="0" bIns="0">
            <a:spAutoFit/>
          </a:bodyPr>
          <a:lstStyle/>
          <a:p>
            <a:pPr algn="ctr"/>
            <a:r>
              <a:rPr sz="1250" b="1" i="0" spc="220">
                <a:solidFill>
                  <a:srgbClr val="E05252"/>
                </a:solidFill>
                <a:latin typeface="Arial"/>
              </a:rPr>
              <a:t>CYCODE TODAY</a:t>
            </a:r>
          </a:p>
        </p:txBody>
      </p:sp>
      <p:sp>
        <p:nvSpPr>
          <p:cNvPr id="7" name="TextBox 6"/>
          <p:cNvSpPr txBox="1"/>
          <p:nvPr/>
        </p:nvSpPr>
        <p:spPr>
          <a:xfrm>
            <a:off x="1280160" y="2633472"/>
            <a:ext cx="4244187" cy="868680"/>
          </a:xfrm>
          <a:prstGeom prst="rect">
            <a:avLst/>
          </a:prstGeom>
          <a:noFill/>
        </p:spPr>
        <p:txBody>
          <a:bodyPr wrap="square" anchor="t" lIns="0" rIns="0" tIns="0" bIns="0">
            <a:spAutoFit/>
          </a:bodyPr>
          <a:lstStyle/>
          <a:p>
            <a:pPr algn="l">
              <a:lnSpc>
                <a:spcPct val="120000"/>
              </a:lnSpc>
            </a:pPr>
            <a:r>
              <a:rPr sz="1450" b="1" i="0">
                <a:solidFill>
                  <a:srgbClr val="E05252"/>
                </a:solidFill>
                <a:latin typeface="Arial"/>
              </a:rPr>
              <a:t>Disruptive and annoying</a:t>
            </a:r>
          </a:p>
          <a:p>
            <a:pPr algn="l">
              <a:lnSpc>
                <a:spcPct val="120000"/>
              </a:lnSpc>
            </a:pPr>
            <a:r>
              <a:rPr sz="1300" b="0" i="0">
                <a:solidFill>
                  <a:srgbClr val="FFFFFF"/>
                </a:solidFill>
                <a:latin typeface="Arial"/>
              </a:rPr>
              <a:t>Unity engineers' own words</a:t>
            </a:r>
          </a:p>
        </p:txBody>
      </p:sp>
      <p:sp>
        <p:nvSpPr>
          <p:cNvPr id="8" name="Oval 7"/>
          <p:cNvSpPr/>
          <p:nvPr/>
        </p:nvSpPr>
        <p:spPr>
          <a:xfrm>
            <a:off x="1005840" y="2697479"/>
            <a:ext cx="82296" cy="82296"/>
          </a:xfrm>
          <a:prstGeom prst="ellipse">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3502152"/>
            <a:ext cx="4244187" cy="868680"/>
          </a:xfrm>
          <a:prstGeom prst="rect">
            <a:avLst/>
          </a:prstGeom>
          <a:noFill/>
        </p:spPr>
        <p:txBody>
          <a:bodyPr wrap="square" anchor="t" lIns="0" rIns="0" tIns="0" bIns="0">
            <a:spAutoFit/>
          </a:bodyPr>
          <a:lstStyle/>
          <a:p>
            <a:pPr algn="l">
              <a:lnSpc>
                <a:spcPct val="120000"/>
              </a:lnSpc>
            </a:pPr>
            <a:r>
              <a:rPr sz="1450" b="1" i="0">
                <a:solidFill>
                  <a:srgbClr val="E05252"/>
                </a:solidFill>
                <a:latin typeface="Arial"/>
              </a:rPr>
              <a:t>Search never gets used</a:t>
            </a:r>
          </a:p>
          <a:p>
            <a:pPr algn="l">
              <a:lnSpc>
                <a:spcPct val="120000"/>
              </a:lnSpc>
            </a:pPr>
            <a:r>
              <a:rPr sz="1300" b="0" i="0">
                <a:solidFill>
                  <a:srgbClr val="FFFFFF"/>
                </a:solidFill>
                <a:latin typeface="Arial"/>
              </a:rPr>
              <a:t>Too slow on real repos</a:t>
            </a:r>
          </a:p>
        </p:txBody>
      </p:sp>
      <p:sp>
        <p:nvSpPr>
          <p:cNvPr id="10" name="Oval 9"/>
          <p:cNvSpPr/>
          <p:nvPr/>
        </p:nvSpPr>
        <p:spPr>
          <a:xfrm>
            <a:off x="1005840" y="3566160"/>
            <a:ext cx="82296" cy="82296"/>
          </a:xfrm>
          <a:prstGeom prst="ellipse">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4370832"/>
            <a:ext cx="4244187" cy="868680"/>
          </a:xfrm>
          <a:prstGeom prst="rect">
            <a:avLst/>
          </a:prstGeom>
          <a:noFill/>
        </p:spPr>
        <p:txBody>
          <a:bodyPr wrap="square" anchor="t" lIns="0" rIns="0" tIns="0" bIns="0">
            <a:spAutoFit/>
          </a:bodyPr>
          <a:lstStyle/>
          <a:p>
            <a:pPr algn="l">
              <a:lnSpc>
                <a:spcPct val="120000"/>
              </a:lnSpc>
            </a:pPr>
            <a:r>
              <a:rPr sz="1450" b="1" i="0">
                <a:solidFill>
                  <a:srgbClr val="E05252"/>
                </a:solidFill>
                <a:latin typeface="Arial"/>
              </a:rPr>
              <a:t>Findings flood the queue</a:t>
            </a:r>
          </a:p>
          <a:p>
            <a:pPr algn="l">
              <a:lnSpc>
                <a:spcPct val="120000"/>
              </a:lnSpc>
            </a:pPr>
            <a:r>
              <a:rPr sz="1300" b="0" i="0">
                <a:solidFill>
                  <a:srgbClr val="FFFFFF"/>
                </a:solidFill>
                <a:latin typeface="Arial"/>
              </a:rPr>
              <a:t>Noise re-routed into Jira</a:t>
            </a:r>
          </a:p>
        </p:txBody>
      </p:sp>
      <p:sp>
        <p:nvSpPr>
          <p:cNvPr id="12" name="Oval 11"/>
          <p:cNvSpPr/>
          <p:nvPr/>
        </p:nvSpPr>
        <p:spPr>
          <a:xfrm>
            <a:off x="1005840" y="4434840"/>
            <a:ext cx="82296" cy="82296"/>
          </a:xfrm>
          <a:prstGeom prst="ellipse">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47307" y="1828800"/>
            <a:ext cx="5158587" cy="3840479"/>
          </a:xfrm>
          <a:prstGeom prst="rect">
            <a:avLst/>
          </a:prstGeom>
          <a:solidFill>
            <a:srgbClr val="111111"/>
          </a:solidFill>
          <a:ln>
            <a:no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47307" y="1828800"/>
            <a:ext cx="5158587" cy="4572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7347" y="2176272"/>
            <a:ext cx="4518507" cy="292608"/>
          </a:xfrm>
          <a:prstGeom prst="rect">
            <a:avLst/>
          </a:prstGeom>
          <a:noFill/>
        </p:spPr>
        <p:txBody>
          <a:bodyPr wrap="square" anchor="t" lIns="0" rIns="0" tIns="0" bIns="0">
            <a:spAutoFit/>
          </a:bodyPr>
          <a:lstStyle/>
          <a:p>
            <a:pPr algn="ctr"/>
            <a:r>
              <a:rPr sz="1250" b="1" i="0" spc="220">
                <a:solidFill>
                  <a:srgbClr val="25D07C"/>
                </a:solidFill>
                <a:latin typeface="Arial"/>
              </a:rPr>
              <a:t>ENDOR LABS ON THE ENGINE</a:t>
            </a:r>
          </a:p>
        </p:txBody>
      </p:sp>
      <p:sp>
        <p:nvSpPr>
          <p:cNvPr id="16" name="TextBox 15"/>
          <p:cNvSpPr txBox="1"/>
          <p:nvPr/>
        </p:nvSpPr>
        <p:spPr>
          <a:xfrm>
            <a:off x="6667347" y="2633472"/>
            <a:ext cx="2259253" cy="822960"/>
          </a:xfrm>
          <a:prstGeom prst="rect">
            <a:avLst/>
          </a:prstGeom>
          <a:noFill/>
        </p:spPr>
        <p:txBody>
          <a:bodyPr wrap="square" anchor="t" lIns="0" rIns="0" tIns="0" bIns="0">
            <a:spAutoFit/>
          </a:bodyPr>
          <a:lstStyle/>
          <a:p>
            <a:pPr algn="ctr"/>
            <a:r>
              <a:rPr sz="4200" b="1" i="0">
                <a:solidFill>
                  <a:srgbClr val="FFFFFF"/>
                </a:solidFill>
                <a:latin typeface="Arial"/>
              </a:rPr>
              <a:t>92%</a:t>
            </a:r>
          </a:p>
        </p:txBody>
      </p:sp>
      <p:sp>
        <p:nvSpPr>
          <p:cNvPr id="17" name="TextBox 16"/>
          <p:cNvSpPr txBox="1"/>
          <p:nvPr/>
        </p:nvSpPr>
        <p:spPr>
          <a:xfrm>
            <a:off x="6713067" y="3502152"/>
            <a:ext cx="2167813" cy="777240"/>
          </a:xfrm>
          <a:prstGeom prst="rect">
            <a:avLst/>
          </a:prstGeom>
          <a:noFill/>
        </p:spPr>
        <p:txBody>
          <a:bodyPr wrap="square" anchor="t" lIns="0" rIns="0" tIns="0" bIns="0">
            <a:spAutoFit/>
          </a:bodyPr>
          <a:lstStyle/>
          <a:p>
            <a:pPr algn="ctr">
              <a:lnSpc>
                <a:spcPct val="125000"/>
              </a:lnSpc>
            </a:pPr>
            <a:r>
              <a:rPr sz="1250" b="0" i="0">
                <a:solidFill>
                  <a:srgbClr val="FFFFFF"/>
                </a:solidFill>
                <a:latin typeface="Arial"/>
              </a:rPr>
              <a:t>average false positive reduction</a:t>
            </a:r>
          </a:p>
        </p:txBody>
      </p:sp>
      <p:sp>
        <p:nvSpPr>
          <p:cNvPr id="18" name="TextBox 17"/>
          <p:cNvSpPr txBox="1"/>
          <p:nvPr/>
        </p:nvSpPr>
        <p:spPr>
          <a:xfrm>
            <a:off x="8926601" y="2633472"/>
            <a:ext cx="2259253" cy="822960"/>
          </a:xfrm>
          <a:prstGeom prst="rect">
            <a:avLst/>
          </a:prstGeom>
          <a:noFill/>
        </p:spPr>
        <p:txBody>
          <a:bodyPr wrap="square" anchor="t" lIns="0" rIns="0" tIns="0" bIns="0">
            <a:spAutoFit/>
          </a:bodyPr>
          <a:lstStyle/>
          <a:p>
            <a:pPr algn="ctr"/>
            <a:r>
              <a:rPr sz="4200" b="1" i="0">
                <a:solidFill>
                  <a:srgbClr val="FFFFFF"/>
                </a:solidFill>
                <a:latin typeface="Arial"/>
              </a:rPr>
              <a:t>10 to 30</a:t>
            </a:r>
          </a:p>
        </p:txBody>
      </p:sp>
      <p:sp>
        <p:nvSpPr>
          <p:cNvPr id="19" name="TextBox 18"/>
          <p:cNvSpPr txBox="1"/>
          <p:nvPr/>
        </p:nvSpPr>
        <p:spPr>
          <a:xfrm>
            <a:off x="8972321" y="3502152"/>
            <a:ext cx="2167813" cy="777240"/>
          </a:xfrm>
          <a:prstGeom prst="rect">
            <a:avLst/>
          </a:prstGeom>
          <a:noFill/>
        </p:spPr>
        <p:txBody>
          <a:bodyPr wrap="square" anchor="t" lIns="0" rIns="0" tIns="0" bIns="0">
            <a:spAutoFit/>
          </a:bodyPr>
          <a:lstStyle/>
          <a:p>
            <a:pPr algn="ctr">
              <a:lnSpc>
                <a:spcPct val="125000"/>
              </a:lnSpc>
            </a:pPr>
            <a:r>
              <a:rPr sz="1250" b="0" i="0">
                <a:solidFill>
                  <a:srgbClr val="FFFFFF"/>
                </a:solidFill>
                <a:latin typeface="Arial"/>
              </a:rPr>
              <a:t>minutes per Engine scan, PR comments live</a:t>
            </a:r>
          </a:p>
        </p:txBody>
      </p:sp>
      <p:sp>
        <p:nvSpPr>
          <p:cNvPr id="20" name="TextBox 19"/>
          <p:cNvSpPr txBox="1"/>
          <p:nvPr/>
        </p:nvSpPr>
        <p:spPr>
          <a:xfrm>
            <a:off x="685800" y="5943599"/>
            <a:ext cx="10820095" cy="411480"/>
          </a:xfrm>
          <a:prstGeom prst="rect">
            <a:avLst/>
          </a:prstGeom>
          <a:noFill/>
        </p:spPr>
        <p:txBody>
          <a:bodyPr wrap="square" anchor="t" lIns="0" rIns="0" tIns="0" bIns="0">
            <a:spAutoFit/>
          </a:bodyPr>
          <a:lstStyle/>
          <a:p>
            <a:pPr algn="ctr"/>
            <a:r>
              <a:rPr sz="1600" b="1" i="0">
                <a:solidFill>
                  <a:srgbClr val="25D07C"/>
                </a:solidFill>
                <a:latin typeface="Arial"/>
              </a:rPr>
              <a:t>The number one metric is already proven at Unity</a:t>
            </a:r>
          </a:p>
        </p:txBody>
      </p:sp>
      <p:pic>
        <p:nvPicPr>
          <p:cNvPr id="21" name="Picture 20" descr="endor-mark.png"/>
          <p:cNvPicPr>
            <a:picLocks noChangeAspect="1"/>
          </p:cNvPicPr>
          <p:nvPr/>
        </p:nvPicPr>
        <p:blipFill>
          <a:blip r:embed="rId2"/>
          <a:stretch>
            <a:fillRect/>
          </a:stretch>
        </p:blipFill>
        <p:spPr>
          <a:xfrm>
            <a:off x="256032" y="6510528"/>
            <a:ext cx="123637" cy="137160"/>
          </a:xfrm>
          <a:prstGeom prst="rect">
            <a:avLst/>
          </a:prstGeom>
        </p:spPr>
      </p:pic>
      <p:sp>
        <p:nvSpPr>
          <p:cNvPr id="22" name="TextBox 21"/>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06</a:t>
            </a:r>
          </a:p>
        </p:txBody>
      </p:sp>
      <p:sp>
        <p:nvSpPr>
          <p:cNvPr id="23" name="TextBox 22"/>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METRIC 2 OF 5</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Security stays in the loop</a:t>
            </a:r>
          </a:p>
        </p:txBody>
      </p:sp>
      <p:sp>
        <p:nvSpPr>
          <p:cNvPr id="4" name="Rectangle 3"/>
          <p:cNvSpPr/>
          <p:nvPr/>
        </p:nvSpPr>
        <p:spPr>
          <a:xfrm>
            <a:off x="685800" y="1828800"/>
            <a:ext cx="5158587" cy="3200399"/>
          </a:xfrm>
          <a:prstGeom prst="rect">
            <a:avLst/>
          </a:prstGeom>
          <a:solidFill>
            <a:srgbClr val="111111"/>
          </a:solidFill>
          <a:ln>
            <a:no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828800"/>
            <a:ext cx="5158587" cy="100584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93392"/>
            <a:ext cx="4518507" cy="292608"/>
          </a:xfrm>
          <a:prstGeom prst="rect">
            <a:avLst/>
          </a:prstGeom>
          <a:noFill/>
        </p:spPr>
        <p:txBody>
          <a:bodyPr wrap="square" anchor="t" lIns="0" rIns="0" tIns="0" bIns="0">
            <a:spAutoFit/>
          </a:bodyPr>
          <a:lstStyle/>
          <a:p>
            <a:pPr algn="l"/>
            <a:r>
              <a:rPr sz="1150" b="1" i="0" spc="220">
                <a:solidFill>
                  <a:srgbClr val="25D07C"/>
                </a:solidFill>
                <a:latin typeface="Arial"/>
              </a:rPr>
              <a:t>GITHUB SECRET PROTECTION</a:t>
            </a:r>
          </a:p>
        </p:txBody>
      </p:sp>
      <p:sp>
        <p:nvSpPr>
          <p:cNvPr id="7" name="TextBox 6"/>
          <p:cNvSpPr txBox="1"/>
          <p:nvPr/>
        </p:nvSpPr>
        <p:spPr>
          <a:xfrm>
            <a:off x="1005840" y="2286000"/>
            <a:ext cx="4518507" cy="502920"/>
          </a:xfrm>
          <a:prstGeom prst="rect">
            <a:avLst/>
          </a:prstGeom>
          <a:noFill/>
        </p:spPr>
        <p:txBody>
          <a:bodyPr wrap="square" anchor="t" lIns="0" rIns="0" tIns="0" bIns="0">
            <a:spAutoFit/>
          </a:bodyPr>
          <a:lstStyle/>
          <a:p>
            <a:pPr algn="l"/>
            <a:r>
              <a:rPr sz="2200" b="1" i="0">
                <a:solidFill>
                  <a:srgbClr val="25D07C"/>
                </a:solidFill>
                <a:latin typeface="Arial"/>
              </a:rPr>
              <a:t>Invisible to everyone</a:t>
            </a:r>
          </a:p>
        </p:txBody>
      </p:sp>
      <p:sp>
        <p:nvSpPr>
          <p:cNvPr id="8" name="TextBox 7"/>
          <p:cNvSpPr txBox="1"/>
          <p:nvPr/>
        </p:nvSpPr>
        <p:spPr>
          <a:xfrm>
            <a:off x="1280160" y="315468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Smooth for engineers, strong at push</a:t>
            </a:r>
          </a:p>
        </p:txBody>
      </p:sp>
      <p:sp>
        <p:nvSpPr>
          <p:cNvPr id="9" name="4-Point Star 8"/>
          <p:cNvSpPr/>
          <p:nvPr/>
        </p:nvSpPr>
        <p:spPr>
          <a:xfrm>
            <a:off x="1005840" y="319125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65760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No cross tool policy or thresholds</a:t>
            </a:r>
          </a:p>
        </p:txBody>
      </p:sp>
      <p:sp>
        <p:nvSpPr>
          <p:cNvPr id="11" name="4-Point Star 10"/>
          <p:cNvSpPr/>
          <p:nvPr/>
        </p:nvSpPr>
        <p:spPr>
          <a:xfrm>
            <a:off x="1005840" y="369417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416052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AppSec cannot see how findings are handled</a:t>
            </a:r>
          </a:p>
        </p:txBody>
      </p:sp>
      <p:sp>
        <p:nvSpPr>
          <p:cNvPr id="13" name="4-Point Star 12"/>
          <p:cNvSpPr/>
          <p:nvPr/>
        </p:nvSpPr>
        <p:spPr>
          <a:xfrm>
            <a:off x="1005840" y="419709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47307" y="1828800"/>
            <a:ext cx="5158587" cy="3200399"/>
          </a:xfrm>
          <a:prstGeom prst="rect">
            <a:avLst/>
          </a:prstGeom>
          <a:solidFill>
            <a:srgbClr val="111111"/>
          </a:solidFill>
          <a:ln>
            <a:no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47307" y="1828800"/>
            <a:ext cx="5158587" cy="100584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67347" y="1993392"/>
            <a:ext cx="4518507" cy="292608"/>
          </a:xfrm>
          <a:prstGeom prst="rect">
            <a:avLst/>
          </a:prstGeom>
          <a:noFill/>
        </p:spPr>
        <p:txBody>
          <a:bodyPr wrap="square" anchor="t" lIns="0" rIns="0" tIns="0" bIns="0">
            <a:spAutoFit/>
          </a:bodyPr>
          <a:lstStyle/>
          <a:p>
            <a:pPr algn="l"/>
            <a:r>
              <a:rPr sz="1150" b="1" i="0" spc="220">
                <a:solidFill>
                  <a:srgbClr val="04160C"/>
                </a:solidFill>
                <a:latin typeface="Arial"/>
              </a:rPr>
              <a:t>ENDOR LABS</a:t>
            </a:r>
          </a:p>
        </p:txBody>
      </p:sp>
      <p:sp>
        <p:nvSpPr>
          <p:cNvPr id="17" name="TextBox 16"/>
          <p:cNvSpPr txBox="1"/>
          <p:nvPr/>
        </p:nvSpPr>
        <p:spPr>
          <a:xfrm>
            <a:off x="6667347" y="2286000"/>
            <a:ext cx="4518507" cy="502920"/>
          </a:xfrm>
          <a:prstGeom prst="rect">
            <a:avLst/>
          </a:prstGeom>
          <a:noFill/>
        </p:spPr>
        <p:txBody>
          <a:bodyPr wrap="square" anchor="t" lIns="0" rIns="0" tIns="0" bIns="0">
            <a:spAutoFit/>
          </a:bodyPr>
          <a:lstStyle/>
          <a:p>
            <a:pPr algn="l"/>
            <a:r>
              <a:rPr sz="2200" b="1" i="0">
                <a:solidFill>
                  <a:srgbClr val="04160C"/>
                </a:solidFill>
                <a:latin typeface="Arial"/>
              </a:rPr>
              <a:t>Invisible to engineers only</a:t>
            </a:r>
          </a:p>
        </p:txBody>
      </p:sp>
      <p:sp>
        <p:nvSpPr>
          <p:cNvPr id="18" name="TextBox 17"/>
          <p:cNvSpPr txBox="1"/>
          <p:nvPr/>
        </p:nvSpPr>
        <p:spPr>
          <a:xfrm>
            <a:off x="6941667" y="315468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Findings stay inside the PR</a:t>
            </a:r>
          </a:p>
        </p:txBody>
      </p:sp>
      <p:sp>
        <p:nvSpPr>
          <p:cNvPr id="19" name="4-Point Star 18"/>
          <p:cNvSpPr/>
          <p:nvPr/>
        </p:nvSpPr>
        <p:spPr>
          <a:xfrm>
            <a:off x="6667347" y="319125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1667" y="365760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One policy engine, central exceptions</a:t>
            </a:r>
          </a:p>
        </p:txBody>
      </p:sp>
      <p:sp>
        <p:nvSpPr>
          <p:cNvPr id="21" name="4-Point Star 20"/>
          <p:cNvSpPr/>
          <p:nvPr/>
        </p:nvSpPr>
        <p:spPr>
          <a:xfrm>
            <a:off x="6667347" y="369417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1667" y="416052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Full audit trail for security</a:t>
            </a:r>
          </a:p>
        </p:txBody>
      </p:sp>
      <p:sp>
        <p:nvSpPr>
          <p:cNvPr id="23" name="4-Point Star 22"/>
          <p:cNvSpPr/>
          <p:nvPr/>
        </p:nvSpPr>
        <p:spPr>
          <a:xfrm>
            <a:off x="6667347" y="419709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03520"/>
            <a:ext cx="10820095" cy="411480"/>
          </a:xfrm>
          <a:prstGeom prst="rect">
            <a:avLst/>
          </a:prstGeom>
          <a:noFill/>
        </p:spPr>
        <p:txBody>
          <a:bodyPr wrap="square" anchor="t" lIns="0" rIns="0" tIns="0" bIns="0">
            <a:spAutoFit/>
          </a:bodyPr>
          <a:lstStyle/>
          <a:p>
            <a:pPr algn="ctr"/>
            <a:r>
              <a:rPr sz="1600" b="1" i="0">
                <a:solidFill>
                  <a:srgbClr val="25D07C"/>
                </a:solidFill>
                <a:latin typeface="Arial"/>
              </a:rPr>
              <a:t>Engineers keep the speed, security keeps the map</a:t>
            </a:r>
          </a:p>
        </p:txBody>
      </p:sp>
      <p:pic>
        <p:nvPicPr>
          <p:cNvPr id="25" name="Picture 24" descr="endor-mark.png"/>
          <p:cNvPicPr>
            <a:picLocks noChangeAspect="1"/>
          </p:cNvPicPr>
          <p:nvPr/>
        </p:nvPicPr>
        <p:blipFill>
          <a:blip r:embed="rId2"/>
          <a:stretch>
            <a:fillRect/>
          </a:stretch>
        </p:blipFill>
        <p:spPr>
          <a:xfrm>
            <a:off x="256032" y="6510528"/>
            <a:ext cx="123637" cy="137160"/>
          </a:xfrm>
          <a:prstGeom prst="rect">
            <a:avLst/>
          </a:prstGeom>
        </p:spPr>
      </p:pic>
      <p:sp>
        <p:nvSpPr>
          <p:cNvPr id="26" name="TextBox 25"/>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07</a:t>
            </a:r>
          </a:p>
        </p:txBody>
      </p:sp>
      <p:sp>
        <p:nvSpPr>
          <p:cNvPr id="27" name="TextBox 26"/>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METRIC 3 OF 5</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Risk based control, built in</a:t>
            </a:r>
          </a:p>
        </p:txBody>
      </p:sp>
      <p:sp>
        <p:nvSpPr>
          <p:cNvPr id="4" name="Rectangle 3"/>
          <p:cNvSpPr/>
          <p:nvPr/>
        </p:nvSpPr>
        <p:spPr>
          <a:xfrm>
            <a:off x="685800" y="1828800"/>
            <a:ext cx="5158587" cy="3840479"/>
          </a:xfrm>
          <a:prstGeom prst="rect">
            <a:avLst/>
          </a:prstGeom>
          <a:solidFill>
            <a:srgbClr val="111111"/>
          </a:solidFill>
          <a:ln>
            <a:noFill/>
          </a:ln>
          <a:effectLst>
            <a:outerShdw blurRad="276225" dist="47625" dir="5400000" rotWithShape="0">
              <a:srgbClr val="E05252">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828800"/>
            <a:ext cx="5158587" cy="4572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76272"/>
            <a:ext cx="4518507" cy="292608"/>
          </a:xfrm>
          <a:prstGeom prst="rect">
            <a:avLst/>
          </a:prstGeom>
          <a:noFill/>
        </p:spPr>
        <p:txBody>
          <a:bodyPr wrap="square" anchor="t" lIns="0" rIns="0" tIns="0" bIns="0">
            <a:spAutoFit/>
          </a:bodyPr>
          <a:lstStyle/>
          <a:p>
            <a:pPr algn="ctr"/>
            <a:r>
              <a:rPr sz="1250" b="1" i="0" spc="220">
                <a:solidFill>
                  <a:srgbClr val="E05252"/>
                </a:solidFill>
                <a:latin typeface="Arial"/>
              </a:rPr>
              <a:t>TODAY</a:t>
            </a:r>
          </a:p>
        </p:txBody>
      </p:sp>
      <p:sp>
        <p:nvSpPr>
          <p:cNvPr id="7" name="TextBox 6"/>
          <p:cNvSpPr txBox="1"/>
          <p:nvPr/>
        </p:nvSpPr>
        <p:spPr>
          <a:xfrm>
            <a:off x="1280160" y="2633472"/>
            <a:ext cx="4244187" cy="868680"/>
          </a:xfrm>
          <a:prstGeom prst="rect">
            <a:avLst/>
          </a:prstGeom>
          <a:noFill/>
        </p:spPr>
        <p:txBody>
          <a:bodyPr wrap="square" anchor="t" lIns="0" rIns="0" tIns="0" bIns="0">
            <a:spAutoFit/>
          </a:bodyPr>
          <a:lstStyle/>
          <a:p>
            <a:pPr algn="l">
              <a:lnSpc>
                <a:spcPct val="120000"/>
              </a:lnSpc>
            </a:pPr>
            <a:r>
              <a:rPr sz="1450" b="1" i="0">
                <a:solidFill>
                  <a:srgbClr val="E05252"/>
                </a:solidFill>
                <a:latin typeface="Arial"/>
              </a:rPr>
              <a:t>Every finding looks urgent</a:t>
            </a:r>
          </a:p>
          <a:p>
            <a:pPr algn="l">
              <a:lnSpc>
                <a:spcPct val="120000"/>
              </a:lnSpc>
            </a:pPr>
            <a:r>
              <a:rPr sz="1300" b="0" i="0">
                <a:solidFill>
                  <a:srgbClr val="FFFFFF"/>
                </a:solidFill>
                <a:latin typeface="Arial"/>
              </a:rPr>
              <a:t>Severity scores without context</a:t>
            </a:r>
          </a:p>
        </p:txBody>
      </p:sp>
      <p:sp>
        <p:nvSpPr>
          <p:cNvPr id="8" name="Oval 7"/>
          <p:cNvSpPr/>
          <p:nvPr/>
        </p:nvSpPr>
        <p:spPr>
          <a:xfrm>
            <a:off x="1005840" y="2697479"/>
            <a:ext cx="82296" cy="82296"/>
          </a:xfrm>
          <a:prstGeom prst="ellipse">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3502152"/>
            <a:ext cx="4244187" cy="868680"/>
          </a:xfrm>
          <a:prstGeom prst="rect">
            <a:avLst/>
          </a:prstGeom>
          <a:noFill/>
        </p:spPr>
        <p:txBody>
          <a:bodyPr wrap="square" anchor="t" lIns="0" rIns="0" tIns="0" bIns="0">
            <a:spAutoFit/>
          </a:bodyPr>
          <a:lstStyle/>
          <a:p>
            <a:pPr algn="l">
              <a:lnSpc>
                <a:spcPct val="120000"/>
              </a:lnSpc>
            </a:pPr>
            <a:r>
              <a:rPr sz="1450" b="1" i="0">
                <a:solidFill>
                  <a:srgbClr val="E05252"/>
                </a:solidFill>
                <a:latin typeface="Arial"/>
              </a:rPr>
              <a:t>Unity built its own filter</a:t>
            </a:r>
          </a:p>
          <a:p>
            <a:pPr algn="l">
              <a:lnSpc>
                <a:spcPct val="120000"/>
              </a:lnSpc>
            </a:pPr>
            <a:r>
              <a:rPr sz="1300" b="0" i="0">
                <a:solidFill>
                  <a:srgbClr val="FFFFFF"/>
                </a:solidFill>
                <a:latin typeface="Arial"/>
              </a:rPr>
              <a:t>Re-scoring findings into Jira</a:t>
            </a:r>
          </a:p>
        </p:txBody>
      </p:sp>
      <p:sp>
        <p:nvSpPr>
          <p:cNvPr id="10" name="Oval 9"/>
          <p:cNvSpPr/>
          <p:nvPr/>
        </p:nvSpPr>
        <p:spPr>
          <a:xfrm>
            <a:off x="1005840" y="3566160"/>
            <a:ext cx="82296" cy="82296"/>
          </a:xfrm>
          <a:prstGeom prst="ellipse">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4370832"/>
            <a:ext cx="4244187" cy="868680"/>
          </a:xfrm>
          <a:prstGeom prst="rect">
            <a:avLst/>
          </a:prstGeom>
          <a:noFill/>
        </p:spPr>
        <p:txBody>
          <a:bodyPr wrap="square" anchor="t" lIns="0" rIns="0" tIns="0" bIns="0">
            <a:spAutoFit/>
          </a:bodyPr>
          <a:lstStyle/>
          <a:p>
            <a:pPr algn="l">
              <a:lnSpc>
                <a:spcPct val="120000"/>
              </a:lnSpc>
            </a:pPr>
            <a:r>
              <a:rPr sz="1450" b="1" i="0">
                <a:solidFill>
                  <a:srgbClr val="E05252"/>
                </a:solidFill>
                <a:latin typeface="Arial"/>
              </a:rPr>
              <a:t>Someone maintains it forever</a:t>
            </a:r>
          </a:p>
          <a:p>
            <a:pPr algn="l">
              <a:lnSpc>
                <a:spcPct val="120000"/>
              </a:lnSpc>
            </a:pPr>
            <a:r>
              <a:rPr sz="1300" b="0" i="0">
                <a:solidFill>
                  <a:srgbClr val="FFFFFF"/>
                </a:solidFill>
                <a:latin typeface="Arial"/>
              </a:rPr>
              <a:t>Engineering time, off the books</a:t>
            </a:r>
          </a:p>
        </p:txBody>
      </p:sp>
      <p:sp>
        <p:nvSpPr>
          <p:cNvPr id="12" name="Oval 11"/>
          <p:cNvSpPr/>
          <p:nvPr/>
        </p:nvSpPr>
        <p:spPr>
          <a:xfrm>
            <a:off x="1005840" y="4434840"/>
            <a:ext cx="82296" cy="82296"/>
          </a:xfrm>
          <a:prstGeom prst="ellipse">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47307" y="1828800"/>
            <a:ext cx="5158587" cy="3840479"/>
          </a:xfrm>
          <a:prstGeom prst="rect">
            <a:avLst/>
          </a:prstGeom>
          <a:solidFill>
            <a:srgbClr val="111111"/>
          </a:solidFill>
          <a:ln>
            <a:no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47307" y="1828800"/>
            <a:ext cx="5158587" cy="4572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7347" y="2176272"/>
            <a:ext cx="4518507" cy="292608"/>
          </a:xfrm>
          <a:prstGeom prst="rect">
            <a:avLst/>
          </a:prstGeom>
          <a:noFill/>
        </p:spPr>
        <p:txBody>
          <a:bodyPr wrap="square" anchor="t" lIns="0" rIns="0" tIns="0" bIns="0">
            <a:spAutoFit/>
          </a:bodyPr>
          <a:lstStyle/>
          <a:p>
            <a:pPr algn="ctr"/>
            <a:r>
              <a:rPr sz="1250" b="1" i="0" spc="220">
                <a:solidFill>
                  <a:srgbClr val="25D07C"/>
                </a:solidFill>
                <a:latin typeface="Arial"/>
              </a:rPr>
              <a:t>WITH ENDOR LABS</a:t>
            </a:r>
          </a:p>
        </p:txBody>
      </p:sp>
      <p:sp>
        <p:nvSpPr>
          <p:cNvPr id="16" name="TextBox 15"/>
          <p:cNvSpPr txBox="1"/>
          <p:nvPr/>
        </p:nvSpPr>
        <p:spPr>
          <a:xfrm>
            <a:off x="6941667" y="2633472"/>
            <a:ext cx="4244187" cy="868680"/>
          </a:xfrm>
          <a:prstGeom prst="rect">
            <a:avLst/>
          </a:prstGeom>
          <a:noFill/>
        </p:spPr>
        <p:txBody>
          <a:bodyPr wrap="square" anchor="t" lIns="0" rIns="0" tIns="0" bIns="0">
            <a:spAutoFit/>
          </a:bodyPr>
          <a:lstStyle/>
          <a:p>
            <a:pPr algn="l">
              <a:lnSpc>
                <a:spcPct val="120000"/>
              </a:lnSpc>
            </a:pPr>
            <a:r>
              <a:rPr sz="1450" b="1" i="0">
                <a:solidFill>
                  <a:srgbClr val="25D07C"/>
                </a:solidFill>
                <a:latin typeface="Arial"/>
              </a:rPr>
              <a:t>Fix these, see the rest</a:t>
            </a:r>
          </a:p>
          <a:p>
            <a:pPr algn="l">
              <a:lnSpc>
                <a:spcPct val="120000"/>
              </a:lnSpc>
            </a:pPr>
            <a:r>
              <a:rPr sz="1300" b="0" i="0">
                <a:solidFill>
                  <a:srgbClr val="FFFFFF"/>
                </a:solidFill>
                <a:latin typeface="Arial"/>
              </a:rPr>
              <a:t>Gates only reachable, confident findings</a:t>
            </a:r>
          </a:p>
        </p:txBody>
      </p:sp>
      <p:sp>
        <p:nvSpPr>
          <p:cNvPr id="17" name="4-Point Star 16"/>
          <p:cNvSpPr/>
          <p:nvPr/>
        </p:nvSpPr>
        <p:spPr>
          <a:xfrm>
            <a:off x="6667347" y="267004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1667" y="3502152"/>
            <a:ext cx="4244187" cy="868680"/>
          </a:xfrm>
          <a:prstGeom prst="rect">
            <a:avLst/>
          </a:prstGeom>
          <a:noFill/>
        </p:spPr>
        <p:txBody>
          <a:bodyPr wrap="square" anchor="t" lIns="0" rIns="0" tIns="0" bIns="0">
            <a:spAutoFit/>
          </a:bodyPr>
          <a:lstStyle/>
          <a:p>
            <a:pPr algn="l">
              <a:lnSpc>
                <a:spcPct val="120000"/>
              </a:lnSpc>
            </a:pPr>
            <a:r>
              <a:rPr sz="1450" b="1" i="0">
                <a:solidFill>
                  <a:srgbClr val="25D07C"/>
                </a:solidFill>
                <a:latin typeface="Arial"/>
              </a:rPr>
              <a:t>Evidence, not guesswork</a:t>
            </a:r>
          </a:p>
          <a:p>
            <a:pPr algn="l">
              <a:lnSpc>
                <a:spcPct val="120000"/>
              </a:lnSpc>
            </a:pPr>
            <a:r>
              <a:rPr sz="1300" b="0" i="0">
                <a:solidFill>
                  <a:srgbClr val="FFFFFF"/>
                </a:solidFill>
                <a:latin typeface="Arial"/>
              </a:rPr>
              <a:t>A call path proves each flaw</a:t>
            </a:r>
          </a:p>
        </p:txBody>
      </p:sp>
      <p:sp>
        <p:nvSpPr>
          <p:cNvPr id="19" name="4-Point Star 18"/>
          <p:cNvSpPr/>
          <p:nvPr/>
        </p:nvSpPr>
        <p:spPr>
          <a:xfrm>
            <a:off x="6667347" y="353872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1667" y="4370832"/>
            <a:ext cx="4244187" cy="868680"/>
          </a:xfrm>
          <a:prstGeom prst="rect">
            <a:avLst/>
          </a:prstGeom>
          <a:noFill/>
        </p:spPr>
        <p:txBody>
          <a:bodyPr wrap="square" anchor="t" lIns="0" rIns="0" tIns="0" bIns="0">
            <a:spAutoFit/>
          </a:bodyPr>
          <a:lstStyle/>
          <a:p>
            <a:pPr algn="l">
              <a:lnSpc>
                <a:spcPct val="120000"/>
              </a:lnSpc>
            </a:pPr>
            <a:r>
              <a:rPr sz="1450" b="1" i="0">
                <a:solidFill>
                  <a:srgbClr val="25D07C"/>
                </a:solidFill>
                <a:latin typeface="Arial"/>
              </a:rPr>
              <a:t>The homegrown filter retires</a:t>
            </a:r>
          </a:p>
          <a:p>
            <a:pPr algn="l">
              <a:lnSpc>
                <a:spcPct val="120000"/>
              </a:lnSpc>
            </a:pPr>
            <a:r>
              <a:rPr sz="1300" b="0" i="0">
                <a:solidFill>
                  <a:srgbClr val="FFFFFF"/>
                </a:solidFill>
                <a:latin typeface="Arial"/>
              </a:rPr>
              <a:t>Thresholds are native, per team</a:t>
            </a:r>
          </a:p>
        </p:txBody>
      </p:sp>
      <p:sp>
        <p:nvSpPr>
          <p:cNvPr id="21" name="4-Point Star 20"/>
          <p:cNvSpPr/>
          <p:nvPr/>
        </p:nvSpPr>
        <p:spPr>
          <a:xfrm>
            <a:off x="6667347" y="440740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endor-mark.png"/>
          <p:cNvPicPr>
            <a:picLocks noChangeAspect="1"/>
          </p:cNvPicPr>
          <p:nvPr/>
        </p:nvPicPr>
        <p:blipFill>
          <a:blip r:embed="rId2"/>
          <a:stretch>
            <a:fillRect/>
          </a:stretch>
        </p:blipFill>
        <p:spPr>
          <a:xfrm>
            <a:off x="256032" y="6510528"/>
            <a:ext cx="123637" cy="137160"/>
          </a:xfrm>
          <a:prstGeom prst="rect">
            <a:avLst/>
          </a:prstGeom>
        </p:spPr>
      </p:pic>
      <p:sp>
        <p:nvSpPr>
          <p:cNvPr id="23" name="TextBox 22"/>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08</a:t>
            </a:r>
          </a:p>
        </p:txBody>
      </p:sp>
      <p:sp>
        <p:nvSpPr>
          <p:cNvPr id="24" name="TextBox 23"/>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METRIC 4 OF 5</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One platform, one policy engine, one number</a:t>
            </a:r>
          </a:p>
        </p:txBody>
      </p:sp>
      <p:sp>
        <p:nvSpPr>
          <p:cNvPr id="4" name="Rectangle 3"/>
          <p:cNvSpPr/>
          <p:nvPr/>
        </p:nvSpPr>
        <p:spPr>
          <a:xfrm>
            <a:off x="685800" y="1691639"/>
            <a:ext cx="10820095" cy="1397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011679"/>
            <a:ext cx="2430703" cy="685800"/>
          </a:xfrm>
          <a:prstGeom prst="rect">
            <a:avLst/>
          </a:prstGeom>
          <a:noFill/>
        </p:spPr>
        <p:txBody>
          <a:bodyPr wrap="square" anchor="t" lIns="0" rIns="0" tIns="0" bIns="0">
            <a:spAutoFit/>
          </a:bodyPr>
          <a:lstStyle/>
          <a:p>
            <a:pPr algn="l">
              <a:lnSpc>
                <a:spcPct val="110000"/>
              </a:lnSpc>
            </a:pPr>
            <a:r>
              <a:rPr sz="1900" b="1" i="0">
                <a:solidFill>
                  <a:srgbClr val="25D07C"/>
                </a:solidFill>
                <a:latin typeface="Arial"/>
              </a:rPr>
              <a:t>Open source</a:t>
            </a:r>
          </a:p>
        </p:txBody>
      </p:sp>
      <p:sp>
        <p:nvSpPr>
          <p:cNvPr id="6" name="TextBox 5"/>
          <p:cNvSpPr txBox="1"/>
          <p:nvPr/>
        </p:nvSpPr>
        <p:spPr>
          <a:xfrm>
            <a:off x="978408" y="2468879"/>
            <a:ext cx="2156383"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C, C++, and C# with no manifests</a:t>
            </a:r>
          </a:p>
        </p:txBody>
      </p:sp>
      <p:sp>
        <p:nvSpPr>
          <p:cNvPr id="7" name="4-Point Star 6"/>
          <p:cNvSpPr/>
          <p:nvPr/>
        </p:nvSpPr>
        <p:spPr>
          <a:xfrm>
            <a:off x="704088" y="250545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3218687"/>
            <a:ext cx="2156383"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Replaces Cycode SCA and Black Duck</a:t>
            </a:r>
          </a:p>
        </p:txBody>
      </p:sp>
      <p:sp>
        <p:nvSpPr>
          <p:cNvPr id="9" name="4-Point Star 8"/>
          <p:cNvSpPr/>
          <p:nvPr/>
        </p:nvSpPr>
        <p:spPr>
          <a:xfrm>
            <a:off x="704088" y="3255263"/>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65143" y="2011679"/>
            <a:ext cx="2174671" cy="685800"/>
          </a:xfrm>
          <a:prstGeom prst="rect">
            <a:avLst/>
          </a:prstGeom>
          <a:noFill/>
        </p:spPr>
        <p:txBody>
          <a:bodyPr wrap="square" anchor="t" lIns="0" rIns="0" tIns="0" bIns="0">
            <a:spAutoFit/>
          </a:bodyPr>
          <a:lstStyle/>
          <a:p>
            <a:pPr algn="l">
              <a:lnSpc>
                <a:spcPct val="110000"/>
              </a:lnSpc>
            </a:pPr>
            <a:r>
              <a:rPr sz="1900" b="1" i="0">
                <a:solidFill>
                  <a:srgbClr val="25D07C"/>
                </a:solidFill>
                <a:latin typeface="Arial"/>
              </a:rPr>
              <a:t>Code</a:t>
            </a:r>
          </a:p>
        </p:txBody>
      </p:sp>
      <p:sp>
        <p:nvSpPr>
          <p:cNvPr id="11" name="TextBox 10"/>
          <p:cNvSpPr txBox="1"/>
          <p:nvPr/>
        </p:nvSpPr>
        <p:spPr>
          <a:xfrm>
            <a:off x="3939463" y="2468879"/>
            <a:ext cx="1900351"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AI SAST for 2,000 developers</a:t>
            </a:r>
          </a:p>
        </p:txBody>
      </p:sp>
      <p:sp>
        <p:nvSpPr>
          <p:cNvPr id="12" name="4-Point Star 11"/>
          <p:cNvSpPr/>
          <p:nvPr/>
        </p:nvSpPr>
        <p:spPr>
          <a:xfrm>
            <a:off x="3665143" y="250545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9463" y="3218687"/>
            <a:ext cx="1900351"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Replaces Cycode SAST and Coverity</a:t>
            </a:r>
          </a:p>
        </p:txBody>
      </p:sp>
      <p:sp>
        <p:nvSpPr>
          <p:cNvPr id="14" name="4-Point Star 13"/>
          <p:cNvSpPr/>
          <p:nvPr/>
        </p:nvSpPr>
        <p:spPr>
          <a:xfrm>
            <a:off x="3665143" y="3255263"/>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011679"/>
            <a:ext cx="2174671" cy="685800"/>
          </a:xfrm>
          <a:prstGeom prst="rect">
            <a:avLst/>
          </a:prstGeom>
          <a:noFill/>
        </p:spPr>
        <p:txBody>
          <a:bodyPr wrap="square" anchor="t" lIns="0" rIns="0" tIns="0" bIns="0">
            <a:spAutoFit/>
          </a:bodyPr>
          <a:lstStyle/>
          <a:p>
            <a:pPr algn="l">
              <a:lnSpc>
                <a:spcPct val="110000"/>
              </a:lnSpc>
            </a:pPr>
            <a:r>
              <a:rPr sz="1900" b="1" i="0">
                <a:solidFill>
                  <a:srgbClr val="25D07C"/>
                </a:solidFill>
                <a:latin typeface="Arial"/>
              </a:rPr>
              <a:t>Secrets</a:t>
            </a:r>
          </a:p>
        </p:txBody>
      </p:sp>
      <p:sp>
        <p:nvSpPr>
          <p:cNvPr id="16" name="TextBox 15"/>
          <p:cNvSpPr txBox="1"/>
          <p:nvPr/>
        </p:nvSpPr>
        <p:spPr>
          <a:xfrm>
            <a:off x="6644487" y="2468879"/>
            <a:ext cx="1900351"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Find, validate, and block</a:t>
            </a:r>
          </a:p>
        </p:txBody>
      </p:sp>
      <p:sp>
        <p:nvSpPr>
          <p:cNvPr id="17" name="4-Point Star 16"/>
          <p:cNvSpPr/>
          <p:nvPr/>
        </p:nvSpPr>
        <p:spPr>
          <a:xfrm>
            <a:off x="6370167" y="250545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44487" y="3218687"/>
            <a:ext cx="1900351"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Replaces the GitHub buy</a:t>
            </a:r>
          </a:p>
        </p:txBody>
      </p:sp>
      <p:sp>
        <p:nvSpPr>
          <p:cNvPr id="19" name="4-Point Star 18"/>
          <p:cNvSpPr/>
          <p:nvPr/>
        </p:nvSpPr>
        <p:spPr>
          <a:xfrm>
            <a:off x="6370167" y="3255263"/>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5191" y="2011679"/>
            <a:ext cx="2174671" cy="685800"/>
          </a:xfrm>
          <a:prstGeom prst="rect">
            <a:avLst/>
          </a:prstGeom>
          <a:noFill/>
        </p:spPr>
        <p:txBody>
          <a:bodyPr wrap="square" anchor="t" lIns="0" rIns="0" tIns="0" bIns="0">
            <a:spAutoFit/>
          </a:bodyPr>
          <a:lstStyle/>
          <a:p>
            <a:pPr algn="l">
              <a:lnSpc>
                <a:spcPct val="110000"/>
              </a:lnSpc>
            </a:pPr>
            <a:r>
              <a:rPr sz="1900" b="1" i="0">
                <a:solidFill>
                  <a:srgbClr val="25D07C"/>
                </a:solidFill>
                <a:latin typeface="Arial"/>
              </a:rPr>
              <a:t>Later, if wanted</a:t>
            </a:r>
          </a:p>
        </p:txBody>
      </p:sp>
      <p:sp>
        <p:nvSpPr>
          <p:cNvPr id="21" name="TextBox 20"/>
          <p:cNvSpPr txBox="1"/>
          <p:nvPr/>
        </p:nvSpPr>
        <p:spPr>
          <a:xfrm>
            <a:off x="9349511" y="2468879"/>
            <a:ext cx="1900351"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Package Firewall and agent governance</a:t>
            </a:r>
          </a:p>
        </p:txBody>
      </p:sp>
      <p:sp>
        <p:nvSpPr>
          <p:cNvPr id="22" name="4-Point Star 21"/>
          <p:cNvSpPr/>
          <p:nvPr/>
        </p:nvSpPr>
        <p:spPr>
          <a:xfrm>
            <a:off x="9075191" y="250545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9511" y="3218687"/>
            <a:ext cx="1900351"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Roadmap, not in this quote</a:t>
            </a:r>
          </a:p>
        </p:txBody>
      </p:sp>
      <p:sp>
        <p:nvSpPr>
          <p:cNvPr id="24" name="4-Point Star 23"/>
          <p:cNvSpPr/>
          <p:nvPr/>
        </p:nvSpPr>
        <p:spPr>
          <a:xfrm>
            <a:off x="9075191" y="3255263"/>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53663" y="1920239"/>
            <a:ext cx="16459" cy="2377440"/>
          </a:xfrm>
          <a:prstGeom prst="rect">
            <a:avLst/>
          </a:prstGeom>
          <a:gradFill rotWithShape="1">
            <a:gsLst>
              <a:gs pos="0">
                <a:srgbClr val="25D07C"/>
              </a:gs>
              <a:gs pos="100000">
                <a:srgbClr val="8B6CF2"/>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58687" y="1920239"/>
            <a:ext cx="16459" cy="2377440"/>
          </a:xfrm>
          <a:prstGeom prst="rect">
            <a:avLst/>
          </a:prstGeom>
          <a:gradFill rotWithShape="1">
            <a:gsLst>
              <a:gs pos="0">
                <a:srgbClr val="25D07C"/>
              </a:gs>
              <a:gs pos="100000">
                <a:srgbClr val="8B6CF2"/>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63711" y="1920239"/>
            <a:ext cx="16459" cy="2377440"/>
          </a:xfrm>
          <a:prstGeom prst="rect">
            <a:avLst/>
          </a:prstGeom>
          <a:gradFill rotWithShape="1">
            <a:gsLst>
              <a:gs pos="0">
                <a:srgbClr val="25D07C"/>
              </a:gs>
              <a:gs pos="100000">
                <a:srgbClr val="8B6CF2"/>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870448"/>
            <a:ext cx="10820095" cy="457200"/>
          </a:xfrm>
          <a:prstGeom prst="rect">
            <a:avLst/>
          </a:prstGeom>
          <a:noFill/>
        </p:spPr>
        <p:txBody>
          <a:bodyPr wrap="square" anchor="t" lIns="0" rIns="0" tIns="0" bIns="0">
            <a:spAutoFit/>
          </a:bodyPr>
          <a:lstStyle/>
          <a:p>
            <a:pPr algn="ctr"/>
            <a:r>
              <a:rPr sz="1600" b="1" i="0">
                <a:solidFill>
                  <a:srgbClr val="25D07C"/>
                </a:solidFill>
                <a:latin typeface="Arial"/>
              </a:rPr>
              <a:t>Already required for the Engine: a second stack is duplicate spend</a:t>
            </a:r>
          </a:p>
        </p:txBody>
      </p:sp>
      <p:pic>
        <p:nvPicPr>
          <p:cNvPr id="29" name="Picture 28" descr="endor-mark.png"/>
          <p:cNvPicPr>
            <a:picLocks noChangeAspect="1"/>
          </p:cNvPicPr>
          <p:nvPr/>
        </p:nvPicPr>
        <p:blipFill>
          <a:blip r:embed="rId2"/>
          <a:stretch>
            <a:fillRect/>
          </a:stretch>
        </p:blipFill>
        <p:spPr>
          <a:xfrm>
            <a:off x="256032" y="6510528"/>
            <a:ext cx="123637" cy="137160"/>
          </a:xfrm>
          <a:prstGeom prst="rect">
            <a:avLst/>
          </a:prstGeom>
        </p:spPr>
      </p:pic>
      <p:sp>
        <p:nvSpPr>
          <p:cNvPr id="30" name="TextBox 29"/>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09</a:t>
            </a:r>
          </a:p>
        </p:txBody>
      </p:sp>
      <p:sp>
        <p:nvSpPr>
          <p:cNvPr id="31" name="TextBox 30"/>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METRIC 5 OF 5 · SECRETS</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Which secrets in 20,000 repos are live right now?</a:t>
            </a:r>
          </a:p>
        </p:txBody>
      </p:sp>
      <p:sp>
        <p:nvSpPr>
          <p:cNvPr id="4" name="Rectangle 3"/>
          <p:cNvSpPr/>
          <p:nvPr/>
        </p:nvSpPr>
        <p:spPr>
          <a:xfrm>
            <a:off x="685800" y="1828800"/>
            <a:ext cx="5158587" cy="3246120"/>
          </a:xfrm>
          <a:prstGeom prst="rect">
            <a:avLst/>
          </a:prstGeom>
          <a:solidFill>
            <a:srgbClr val="111111"/>
          </a:solidFill>
          <a:ln>
            <a:noFill/>
          </a:ln>
          <a:effectLst>
            <a:outerShdw blurRad="276225" dist="47625" dir="5400000" rotWithShape="0">
              <a:srgbClr val="E05252">
                <a:alpha val="3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828800"/>
            <a:ext cx="5158587" cy="4572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76272"/>
            <a:ext cx="4518507" cy="292608"/>
          </a:xfrm>
          <a:prstGeom prst="rect">
            <a:avLst/>
          </a:prstGeom>
          <a:noFill/>
        </p:spPr>
        <p:txBody>
          <a:bodyPr wrap="square" anchor="t" lIns="0" rIns="0" tIns="0" bIns="0">
            <a:spAutoFit/>
          </a:bodyPr>
          <a:lstStyle/>
          <a:p>
            <a:pPr algn="ctr"/>
            <a:r>
              <a:rPr sz="1250" b="1" i="0" spc="220">
                <a:solidFill>
                  <a:srgbClr val="E05252"/>
                </a:solidFill>
                <a:latin typeface="Arial"/>
              </a:rPr>
              <a:t>THE INCIDENT STANDARD</a:t>
            </a:r>
          </a:p>
        </p:txBody>
      </p:sp>
      <p:sp>
        <p:nvSpPr>
          <p:cNvPr id="7" name="TextBox 6"/>
          <p:cNvSpPr txBox="1"/>
          <p:nvPr/>
        </p:nvSpPr>
        <p:spPr>
          <a:xfrm>
            <a:off x="1005840" y="2633472"/>
            <a:ext cx="2259253" cy="822960"/>
          </a:xfrm>
          <a:prstGeom prst="rect">
            <a:avLst/>
          </a:prstGeom>
          <a:noFill/>
        </p:spPr>
        <p:txBody>
          <a:bodyPr wrap="square" anchor="t" lIns="0" rIns="0" tIns="0" bIns="0">
            <a:spAutoFit/>
          </a:bodyPr>
          <a:lstStyle/>
          <a:p>
            <a:pPr algn="ctr"/>
            <a:r>
              <a:rPr sz="4200" b="1" i="0">
                <a:solidFill>
                  <a:srgbClr val="FFFFFF"/>
                </a:solidFill>
                <a:latin typeface="Arial"/>
              </a:rPr>
              <a:t>7,500</a:t>
            </a:r>
          </a:p>
        </p:txBody>
      </p:sp>
      <p:sp>
        <p:nvSpPr>
          <p:cNvPr id="8" name="TextBox 7"/>
          <p:cNvSpPr txBox="1"/>
          <p:nvPr/>
        </p:nvSpPr>
        <p:spPr>
          <a:xfrm>
            <a:off x="1051560" y="3502152"/>
            <a:ext cx="2167813" cy="777240"/>
          </a:xfrm>
          <a:prstGeom prst="rect">
            <a:avLst/>
          </a:prstGeom>
          <a:noFill/>
        </p:spPr>
        <p:txBody>
          <a:bodyPr wrap="square" anchor="t" lIns="0" rIns="0" tIns="0" bIns="0">
            <a:spAutoFit/>
          </a:bodyPr>
          <a:lstStyle/>
          <a:p>
            <a:pPr algn="ctr">
              <a:lnSpc>
                <a:spcPct val="125000"/>
              </a:lnSpc>
            </a:pPr>
            <a:r>
              <a:rPr sz="1250" b="0" i="0">
                <a:solidFill>
                  <a:srgbClr val="FFFFFF"/>
                </a:solidFill>
                <a:latin typeface="Arial"/>
              </a:rPr>
              <a:t>repos exfiltrated, embedded secrets undetected</a:t>
            </a:r>
          </a:p>
        </p:txBody>
      </p:sp>
      <p:sp>
        <p:nvSpPr>
          <p:cNvPr id="9" name="TextBox 8"/>
          <p:cNvSpPr txBox="1"/>
          <p:nvPr/>
        </p:nvSpPr>
        <p:spPr>
          <a:xfrm>
            <a:off x="3265093" y="2633472"/>
            <a:ext cx="2259253" cy="822960"/>
          </a:xfrm>
          <a:prstGeom prst="rect">
            <a:avLst/>
          </a:prstGeom>
          <a:noFill/>
        </p:spPr>
        <p:txBody>
          <a:bodyPr wrap="square" anchor="t" lIns="0" rIns="0" tIns="0" bIns="0">
            <a:spAutoFit/>
          </a:bodyPr>
          <a:lstStyle/>
          <a:p>
            <a:pPr algn="ctr"/>
            <a:r>
              <a:rPr sz="4200" b="1" i="0">
                <a:solidFill>
                  <a:srgbClr val="FFFFFF"/>
                </a:solidFill>
                <a:latin typeface="Arial"/>
              </a:rPr>
              <a:t>$1.2M</a:t>
            </a:r>
          </a:p>
        </p:txBody>
      </p:sp>
      <p:sp>
        <p:nvSpPr>
          <p:cNvPr id="10" name="TextBox 9"/>
          <p:cNvSpPr txBox="1"/>
          <p:nvPr/>
        </p:nvSpPr>
        <p:spPr>
          <a:xfrm>
            <a:off x="3310813" y="3502152"/>
            <a:ext cx="2167813" cy="777240"/>
          </a:xfrm>
          <a:prstGeom prst="rect">
            <a:avLst/>
          </a:prstGeom>
          <a:noFill/>
        </p:spPr>
        <p:txBody>
          <a:bodyPr wrap="square" anchor="t" lIns="0" rIns="0" tIns="0" bIns="0">
            <a:spAutoFit/>
          </a:bodyPr>
          <a:lstStyle/>
          <a:p>
            <a:pPr algn="ctr">
              <a:lnSpc>
                <a:spcPct val="125000"/>
              </a:lnSpc>
            </a:pPr>
            <a:r>
              <a:rPr sz="1250" b="0" i="0">
                <a:solidFill>
                  <a:srgbClr val="FFFFFF"/>
                </a:solidFill>
                <a:latin typeface="Arial"/>
              </a:rPr>
              <a:t>average financial damage per leaked secret</a:t>
            </a:r>
          </a:p>
        </p:txBody>
      </p:sp>
      <p:sp>
        <p:nvSpPr>
          <p:cNvPr id="11" name="Rectangle 10"/>
          <p:cNvSpPr/>
          <p:nvPr/>
        </p:nvSpPr>
        <p:spPr>
          <a:xfrm>
            <a:off x="6347307" y="1828800"/>
            <a:ext cx="5158587" cy="3246120"/>
          </a:xfrm>
          <a:prstGeom prst="rect">
            <a:avLst/>
          </a:prstGeom>
          <a:solidFill>
            <a:srgbClr val="111111"/>
          </a:solidFill>
          <a:ln>
            <a:no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47307" y="1828800"/>
            <a:ext cx="5158587" cy="4572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67347" y="2176272"/>
            <a:ext cx="4518507" cy="292608"/>
          </a:xfrm>
          <a:prstGeom prst="rect">
            <a:avLst/>
          </a:prstGeom>
          <a:noFill/>
        </p:spPr>
        <p:txBody>
          <a:bodyPr wrap="square" anchor="t" lIns="0" rIns="0" tIns="0" bIns="0">
            <a:spAutoFit/>
          </a:bodyPr>
          <a:lstStyle/>
          <a:p>
            <a:pPr algn="ctr"/>
            <a:r>
              <a:rPr sz="1250" b="1" i="0" spc="220">
                <a:solidFill>
                  <a:srgbClr val="25D07C"/>
                </a:solidFill>
                <a:latin typeface="Arial"/>
              </a:rPr>
              <a:t>ENDOR LABS SECRETS</a:t>
            </a:r>
          </a:p>
        </p:txBody>
      </p:sp>
      <p:sp>
        <p:nvSpPr>
          <p:cNvPr id="14" name="TextBox 13"/>
          <p:cNvSpPr txBox="1"/>
          <p:nvPr/>
        </p:nvSpPr>
        <p:spPr>
          <a:xfrm>
            <a:off x="6941667" y="2633472"/>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Scans full history, every branch and commit</a:t>
            </a:r>
          </a:p>
        </p:txBody>
      </p:sp>
      <p:sp>
        <p:nvSpPr>
          <p:cNvPr id="15" name="4-Point Star 14"/>
          <p:cNvSpPr/>
          <p:nvPr/>
        </p:nvSpPr>
        <p:spPr>
          <a:xfrm>
            <a:off x="6667347" y="267004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1667" y="3136391"/>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Marks each secret live or dead</a:t>
            </a:r>
          </a:p>
        </p:txBody>
      </p:sp>
      <p:sp>
        <p:nvSpPr>
          <p:cNvPr id="17" name="4-Point Star 16"/>
          <p:cNvSpPr/>
          <p:nvPr/>
        </p:nvSpPr>
        <p:spPr>
          <a:xfrm>
            <a:off x="6667347" y="317296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1667" y="3639311"/>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One finding per secret, not fifty</a:t>
            </a:r>
          </a:p>
        </p:txBody>
      </p:sp>
      <p:sp>
        <p:nvSpPr>
          <p:cNvPr id="19" name="4-Point Star 18"/>
          <p:cNvSpPr/>
          <p:nvPr/>
        </p:nvSpPr>
        <p:spPr>
          <a:xfrm>
            <a:off x="6667347" y="3675887"/>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1667" y="4142231"/>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Custom rules for Unity token formats</a:t>
            </a:r>
          </a:p>
        </p:txBody>
      </p:sp>
      <p:sp>
        <p:nvSpPr>
          <p:cNvPr id="21" name="4-Point Star 20"/>
          <p:cNvSpPr/>
          <p:nvPr/>
        </p:nvSpPr>
        <p:spPr>
          <a:xfrm>
            <a:off x="6667347" y="4178807"/>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349240"/>
            <a:ext cx="10820095" cy="411480"/>
          </a:xfrm>
          <a:prstGeom prst="rect">
            <a:avLst/>
          </a:prstGeom>
          <a:noFill/>
        </p:spPr>
        <p:txBody>
          <a:bodyPr wrap="square" anchor="t" lIns="0" rIns="0" tIns="0" bIns="0">
            <a:spAutoFit/>
          </a:bodyPr>
          <a:lstStyle/>
          <a:p>
            <a:pPr algn="ctr"/>
            <a:r>
              <a:rPr sz="1600" b="1" i="0">
                <a:solidFill>
                  <a:srgbClr val="25D07C"/>
                </a:solidFill>
                <a:latin typeface="Arial"/>
              </a:rPr>
              <a:t>Built for 17 acquisitions worth of history</a:t>
            </a:r>
          </a:p>
        </p:txBody>
      </p:sp>
      <p:pic>
        <p:nvPicPr>
          <p:cNvPr id="23" name="Picture 22" descr="endor-mark.png"/>
          <p:cNvPicPr>
            <a:picLocks noChangeAspect="1"/>
          </p:cNvPicPr>
          <p:nvPr/>
        </p:nvPicPr>
        <p:blipFill>
          <a:blip r:embed="rId2"/>
          <a:stretch>
            <a:fillRect/>
          </a:stretch>
        </p:blipFill>
        <p:spPr>
          <a:xfrm>
            <a:off x="256032" y="6510528"/>
            <a:ext cx="123637" cy="137160"/>
          </a:xfrm>
          <a:prstGeom prst="rect">
            <a:avLst/>
          </a:prstGeom>
        </p:spPr>
      </p:pic>
      <p:sp>
        <p:nvSpPr>
          <p:cNvPr id="24" name="TextBox 23"/>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10</a:t>
            </a:r>
          </a:p>
        </p:txBody>
      </p:sp>
      <p:sp>
        <p:nvSpPr>
          <p:cNvPr id="25" name="TextBox 24"/>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METRIC 5 OF 5 · SECRETS</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Hard blocking, without going blind</a:t>
            </a:r>
          </a:p>
        </p:txBody>
      </p:sp>
      <p:sp>
        <p:nvSpPr>
          <p:cNvPr id="4" name="Rectangle 3"/>
          <p:cNvSpPr/>
          <p:nvPr/>
        </p:nvSpPr>
        <p:spPr>
          <a:xfrm>
            <a:off x="685800" y="1828800"/>
            <a:ext cx="5158587" cy="3200399"/>
          </a:xfrm>
          <a:prstGeom prst="rect">
            <a:avLst/>
          </a:prstGeom>
          <a:solidFill>
            <a:srgbClr val="111111"/>
          </a:solidFill>
          <a:ln>
            <a:no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828800"/>
            <a:ext cx="5158587" cy="100584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93392"/>
            <a:ext cx="4518507" cy="292608"/>
          </a:xfrm>
          <a:prstGeom prst="rect">
            <a:avLst/>
          </a:prstGeom>
          <a:noFill/>
        </p:spPr>
        <p:txBody>
          <a:bodyPr wrap="square" anchor="t" lIns="0" rIns="0" tIns="0" bIns="0">
            <a:spAutoFit/>
          </a:bodyPr>
          <a:lstStyle/>
          <a:p>
            <a:pPr algn="l"/>
            <a:r>
              <a:rPr sz="1150" b="1" i="0" spc="220">
                <a:solidFill>
                  <a:srgbClr val="25D07C"/>
                </a:solidFill>
                <a:latin typeface="Arial"/>
              </a:rPr>
              <a:t>GITHUB PUSH PROTECTION</a:t>
            </a:r>
          </a:p>
        </p:txBody>
      </p:sp>
      <p:sp>
        <p:nvSpPr>
          <p:cNvPr id="7" name="TextBox 6"/>
          <p:cNvSpPr txBox="1"/>
          <p:nvPr/>
        </p:nvSpPr>
        <p:spPr>
          <a:xfrm>
            <a:off x="1005840" y="2286000"/>
            <a:ext cx="4518507" cy="502920"/>
          </a:xfrm>
          <a:prstGeom prst="rect">
            <a:avLst/>
          </a:prstGeom>
          <a:noFill/>
        </p:spPr>
        <p:txBody>
          <a:bodyPr wrap="square" anchor="t" lIns="0" rIns="0" tIns="0" bIns="0">
            <a:spAutoFit/>
          </a:bodyPr>
          <a:lstStyle/>
          <a:p>
            <a:pPr algn="l"/>
            <a:r>
              <a:rPr sz="2200" b="1" i="0">
                <a:solidFill>
                  <a:srgbClr val="25D07C"/>
                </a:solidFill>
                <a:latin typeface="Arial"/>
              </a:rPr>
              <a:t>Guards the push</a:t>
            </a:r>
          </a:p>
        </p:txBody>
      </p:sp>
      <p:sp>
        <p:nvSpPr>
          <p:cNvPr id="8" name="TextBox 7"/>
          <p:cNvSpPr txBox="1"/>
          <p:nvPr/>
        </p:nvSpPr>
        <p:spPr>
          <a:xfrm>
            <a:off x="1280160" y="315468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Blocks at push, strong at that moment</a:t>
            </a:r>
          </a:p>
        </p:txBody>
      </p:sp>
      <p:sp>
        <p:nvSpPr>
          <p:cNvPr id="9" name="4-Point Star 8"/>
          <p:cNvSpPr/>
          <p:nvPr/>
        </p:nvSpPr>
        <p:spPr>
          <a:xfrm>
            <a:off x="1005840" y="319125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65760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No check for whether a secret is live</a:t>
            </a:r>
          </a:p>
        </p:txBody>
      </p:sp>
      <p:sp>
        <p:nvSpPr>
          <p:cNvPr id="11" name="4-Point Star 10"/>
          <p:cNvSpPr/>
          <p:nvPr/>
        </p:nvSpPr>
        <p:spPr>
          <a:xfrm>
            <a:off x="1005840" y="369417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416052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Policy sits outside AppSec</a:t>
            </a:r>
          </a:p>
        </p:txBody>
      </p:sp>
      <p:sp>
        <p:nvSpPr>
          <p:cNvPr id="13" name="4-Point Star 12"/>
          <p:cNvSpPr/>
          <p:nvPr/>
        </p:nvSpPr>
        <p:spPr>
          <a:xfrm>
            <a:off x="1005840" y="419709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47307" y="1828800"/>
            <a:ext cx="5158587" cy="3200399"/>
          </a:xfrm>
          <a:prstGeom prst="rect">
            <a:avLst/>
          </a:prstGeom>
          <a:solidFill>
            <a:srgbClr val="111111"/>
          </a:solidFill>
          <a:ln>
            <a:no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47307" y="1828800"/>
            <a:ext cx="5158587" cy="100584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67347" y="1993392"/>
            <a:ext cx="4518507" cy="292608"/>
          </a:xfrm>
          <a:prstGeom prst="rect">
            <a:avLst/>
          </a:prstGeom>
          <a:noFill/>
        </p:spPr>
        <p:txBody>
          <a:bodyPr wrap="square" anchor="t" lIns="0" rIns="0" tIns="0" bIns="0">
            <a:spAutoFit/>
          </a:bodyPr>
          <a:lstStyle/>
          <a:p>
            <a:pPr algn="l"/>
            <a:r>
              <a:rPr sz="1150" b="1" i="0" spc="220">
                <a:solidFill>
                  <a:srgbClr val="04160C"/>
                </a:solidFill>
                <a:latin typeface="Arial"/>
              </a:rPr>
              <a:t>ENDOR LABS</a:t>
            </a:r>
          </a:p>
        </p:txBody>
      </p:sp>
      <p:sp>
        <p:nvSpPr>
          <p:cNvPr id="17" name="TextBox 16"/>
          <p:cNvSpPr txBox="1"/>
          <p:nvPr/>
        </p:nvSpPr>
        <p:spPr>
          <a:xfrm>
            <a:off x="6667347" y="2286000"/>
            <a:ext cx="4518507" cy="502920"/>
          </a:xfrm>
          <a:prstGeom prst="rect">
            <a:avLst/>
          </a:prstGeom>
          <a:noFill/>
        </p:spPr>
        <p:txBody>
          <a:bodyPr wrap="square" anchor="t" lIns="0" rIns="0" tIns="0" bIns="0">
            <a:spAutoFit/>
          </a:bodyPr>
          <a:lstStyle/>
          <a:p>
            <a:pPr algn="l"/>
            <a:r>
              <a:rPr sz="2200" b="1" i="0">
                <a:solidFill>
                  <a:srgbClr val="04160C"/>
                </a:solidFill>
                <a:latin typeface="Arial"/>
              </a:rPr>
              <a:t>Guards before, at, and after</a:t>
            </a:r>
          </a:p>
        </p:txBody>
      </p:sp>
      <p:sp>
        <p:nvSpPr>
          <p:cNvPr id="18" name="TextBox 17"/>
          <p:cNvSpPr txBox="1"/>
          <p:nvPr/>
        </p:nvSpPr>
        <p:spPr>
          <a:xfrm>
            <a:off x="6941667" y="315468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Blocks before the commit exists, agents included</a:t>
            </a:r>
          </a:p>
        </p:txBody>
      </p:sp>
      <p:sp>
        <p:nvSpPr>
          <p:cNvPr id="19" name="4-Point Star 18"/>
          <p:cNvSpPr/>
          <p:nvPr/>
        </p:nvSpPr>
        <p:spPr>
          <a:xfrm>
            <a:off x="6667347" y="319125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1667" y="365760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Validation shows what is live</a:t>
            </a:r>
          </a:p>
        </p:txBody>
      </p:sp>
      <p:sp>
        <p:nvSpPr>
          <p:cNvPr id="21" name="4-Point Star 20"/>
          <p:cNvSpPr/>
          <p:nvPr/>
        </p:nvSpPr>
        <p:spPr>
          <a:xfrm>
            <a:off x="6667347" y="369417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1667" y="4160520"/>
            <a:ext cx="4244187" cy="86868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AppSec keeps policy and audit</a:t>
            </a:r>
          </a:p>
        </p:txBody>
      </p:sp>
      <p:sp>
        <p:nvSpPr>
          <p:cNvPr id="23" name="4-Point Star 22"/>
          <p:cNvSpPr/>
          <p:nvPr/>
        </p:nvSpPr>
        <p:spPr>
          <a:xfrm>
            <a:off x="6667347" y="4197096"/>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03520"/>
            <a:ext cx="10820095" cy="411480"/>
          </a:xfrm>
          <a:prstGeom prst="rect">
            <a:avLst/>
          </a:prstGeom>
          <a:noFill/>
        </p:spPr>
        <p:txBody>
          <a:bodyPr wrap="square" anchor="t" lIns="0" rIns="0" tIns="0" bIns="0">
            <a:spAutoFit/>
          </a:bodyPr>
          <a:lstStyle/>
          <a:p>
            <a:pPr algn="ctr"/>
            <a:r>
              <a:rPr sz="1600" b="1" i="0">
                <a:solidFill>
                  <a:srgbClr val="25D07C"/>
                </a:solidFill>
                <a:latin typeface="Arial"/>
              </a:rPr>
              <a:t>The workflow engineers love, the oversight security needs</a:t>
            </a:r>
          </a:p>
        </p:txBody>
      </p:sp>
      <p:pic>
        <p:nvPicPr>
          <p:cNvPr id="25" name="Picture 24" descr="endor-mark.png"/>
          <p:cNvPicPr>
            <a:picLocks noChangeAspect="1"/>
          </p:cNvPicPr>
          <p:nvPr/>
        </p:nvPicPr>
        <p:blipFill>
          <a:blip r:embed="rId2"/>
          <a:stretch>
            <a:fillRect/>
          </a:stretch>
        </p:blipFill>
        <p:spPr>
          <a:xfrm>
            <a:off x="256032" y="6510528"/>
            <a:ext cx="123637" cy="137160"/>
          </a:xfrm>
          <a:prstGeom prst="rect">
            <a:avLst/>
          </a:prstGeom>
        </p:spPr>
      </p:pic>
      <p:sp>
        <p:nvSpPr>
          <p:cNvPr id="26" name="TextBox 25"/>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11</a:t>
            </a:r>
          </a:p>
        </p:txBody>
      </p:sp>
      <p:sp>
        <p:nvSpPr>
          <p:cNvPr id="27" name="TextBox 26"/>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PROVEN AT UNITY</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Not a proposal, a production system</a:t>
            </a:r>
          </a:p>
        </p:txBody>
      </p:sp>
      <p:sp>
        <p:nvSpPr>
          <p:cNvPr id="4" name="Rounded Rectangle 3"/>
          <p:cNvSpPr/>
          <p:nvPr/>
        </p:nvSpPr>
        <p:spPr>
          <a:xfrm>
            <a:off x="685800" y="2103120"/>
            <a:ext cx="3411626" cy="3017520"/>
          </a:xfrm>
          <a:prstGeom prst="roundRect">
            <a:avLst>
              <a:gd name="adj" fmla="val 3333"/>
            </a:avLst>
          </a:prstGeom>
          <a:solidFill>
            <a:srgbClr val="111111"/>
          </a:solidFill>
          <a:ln w="12700">
            <a:solidFill>
              <a:srgbClr val="262626"/>
            </a:solid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423160"/>
            <a:ext cx="2826410" cy="292608"/>
          </a:xfrm>
          <a:prstGeom prst="rect">
            <a:avLst/>
          </a:prstGeom>
          <a:noFill/>
        </p:spPr>
        <p:txBody>
          <a:bodyPr wrap="square" anchor="t" lIns="0" rIns="0" tIns="0" bIns="0">
            <a:spAutoFit/>
          </a:bodyPr>
          <a:lstStyle/>
          <a:p>
            <a:pPr algn="l"/>
            <a:r>
              <a:rPr sz="1100" b="1" i="0" spc="220">
                <a:solidFill>
                  <a:srgbClr val="25D07C"/>
                </a:solidFill>
                <a:latin typeface="Arial"/>
              </a:rPr>
              <a:t>UNITY'S OWN EVALUATION</a:t>
            </a:r>
          </a:p>
        </p:txBody>
      </p:sp>
      <p:sp>
        <p:nvSpPr>
          <p:cNvPr id="6" name="TextBox 5"/>
          <p:cNvSpPr txBox="1"/>
          <p:nvPr/>
        </p:nvSpPr>
        <p:spPr>
          <a:xfrm>
            <a:off x="978408" y="2825496"/>
            <a:ext cx="2826410" cy="914400"/>
          </a:xfrm>
          <a:prstGeom prst="rect">
            <a:avLst/>
          </a:prstGeom>
          <a:noFill/>
        </p:spPr>
        <p:txBody>
          <a:bodyPr wrap="square" anchor="t" lIns="0" rIns="0" tIns="0" bIns="0">
            <a:spAutoFit/>
          </a:bodyPr>
          <a:lstStyle/>
          <a:p>
            <a:pPr algn="l"/>
            <a:r>
              <a:rPr sz="4800" b="1" i="0">
                <a:solidFill>
                  <a:srgbClr val="08F078"/>
                </a:solidFill>
                <a:latin typeface="Arial"/>
              </a:rPr>
              <a:t>10 to 20%</a:t>
            </a:r>
          </a:p>
        </p:txBody>
      </p:sp>
      <p:sp>
        <p:nvSpPr>
          <p:cNvPr id="7" name="TextBox 6"/>
          <p:cNvSpPr txBox="1"/>
          <p:nvPr/>
        </p:nvSpPr>
        <p:spPr>
          <a:xfrm>
            <a:off x="978408" y="3831335"/>
            <a:ext cx="2826410" cy="1234440"/>
          </a:xfrm>
          <a:prstGeom prst="rect">
            <a:avLst/>
          </a:prstGeom>
          <a:noFill/>
        </p:spPr>
        <p:txBody>
          <a:bodyPr wrap="square" anchor="t" lIns="0" rIns="0" tIns="0" bIns="0">
            <a:spAutoFit/>
          </a:bodyPr>
          <a:lstStyle/>
          <a:p>
            <a:pPr algn="l">
              <a:lnSpc>
                <a:spcPct val="130000"/>
              </a:lnSpc>
            </a:pPr>
            <a:r>
              <a:rPr sz="1400" b="0" i="0">
                <a:solidFill>
                  <a:srgbClr val="FFFFFF"/>
                </a:solidFill>
                <a:latin typeface="Arial"/>
              </a:rPr>
              <a:t>better findings than Black Duck, per Unity</a:t>
            </a:r>
          </a:p>
        </p:txBody>
      </p:sp>
      <p:sp>
        <p:nvSpPr>
          <p:cNvPr id="8" name="Rounded Rectangle 7"/>
          <p:cNvSpPr/>
          <p:nvPr/>
        </p:nvSpPr>
        <p:spPr>
          <a:xfrm>
            <a:off x="4390034" y="2103120"/>
            <a:ext cx="3411626" cy="3017520"/>
          </a:xfrm>
          <a:prstGeom prst="roundRect">
            <a:avLst>
              <a:gd name="adj" fmla="val 3333"/>
            </a:avLst>
          </a:prstGeom>
          <a:solidFill>
            <a:srgbClr val="111111"/>
          </a:solidFill>
          <a:ln w="12700">
            <a:solidFill>
              <a:srgbClr val="262626"/>
            </a:solid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2642" y="2423160"/>
            <a:ext cx="2826410" cy="292608"/>
          </a:xfrm>
          <a:prstGeom prst="rect">
            <a:avLst/>
          </a:prstGeom>
          <a:noFill/>
        </p:spPr>
        <p:txBody>
          <a:bodyPr wrap="square" anchor="t" lIns="0" rIns="0" tIns="0" bIns="0">
            <a:spAutoFit/>
          </a:bodyPr>
          <a:lstStyle/>
          <a:p>
            <a:pPr algn="l"/>
            <a:r>
              <a:rPr sz="1100" b="1" i="0" spc="220">
                <a:solidFill>
                  <a:srgbClr val="25D07C"/>
                </a:solidFill>
                <a:latin typeface="Arial"/>
              </a:rPr>
              <a:t>ENGINE TEST REPO</a:t>
            </a:r>
          </a:p>
        </p:txBody>
      </p:sp>
      <p:sp>
        <p:nvSpPr>
          <p:cNvPr id="10" name="TextBox 9"/>
          <p:cNvSpPr txBox="1"/>
          <p:nvPr/>
        </p:nvSpPr>
        <p:spPr>
          <a:xfrm>
            <a:off x="4682642" y="2825496"/>
            <a:ext cx="2826410" cy="914400"/>
          </a:xfrm>
          <a:prstGeom prst="rect">
            <a:avLst/>
          </a:prstGeom>
          <a:noFill/>
        </p:spPr>
        <p:txBody>
          <a:bodyPr wrap="square" anchor="t" lIns="0" rIns="0" tIns="0" bIns="0">
            <a:spAutoFit/>
          </a:bodyPr>
          <a:lstStyle/>
          <a:p>
            <a:pPr algn="l"/>
            <a:r>
              <a:rPr sz="4800" b="1" i="0">
                <a:solidFill>
                  <a:srgbClr val="08F078"/>
                </a:solidFill>
                <a:latin typeface="Arial"/>
              </a:rPr>
              <a:t>89.5%</a:t>
            </a:r>
          </a:p>
        </p:txBody>
      </p:sp>
      <p:sp>
        <p:nvSpPr>
          <p:cNvPr id="11" name="TextBox 10"/>
          <p:cNvSpPr txBox="1"/>
          <p:nvPr/>
        </p:nvSpPr>
        <p:spPr>
          <a:xfrm>
            <a:off x="4682642" y="3831335"/>
            <a:ext cx="2826410" cy="1234440"/>
          </a:xfrm>
          <a:prstGeom prst="rect">
            <a:avLst/>
          </a:prstGeom>
          <a:noFill/>
        </p:spPr>
        <p:txBody>
          <a:bodyPr wrap="square" anchor="t" lIns="0" rIns="0" tIns="0" bIns="0">
            <a:spAutoFit/>
          </a:bodyPr>
          <a:lstStyle/>
          <a:p>
            <a:pPr algn="l">
              <a:lnSpc>
                <a:spcPct val="130000"/>
              </a:lnSpc>
            </a:pPr>
            <a:r>
              <a:rPr sz="1400" b="0" i="0">
                <a:solidFill>
                  <a:srgbClr val="FFFFFF"/>
                </a:solidFill>
                <a:latin typeface="Arial"/>
              </a:rPr>
              <a:t>dependency resolution on the Engine test repo</a:t>
            </a:r>
          </a:p>
        </p:txBody>
      </p:sp>
      <p:sp>
        <p:nvSpPr>
          <p:cNvPr id="12" name="Rounded Rectangle 11"/>
          <p:cNvSpPr/>
          <p:nvPr/>
        </p:nvSpPr>
        <p:spPr>
          <a:xfrm>
            <a:off x="8094268" y="2103120"/>
            <a:ext cx="3411626" cy="3017520"/>
          </a:xfrm>
          <a:prstGeom prst="roundRect">
            <a:avLst>
              <a:gd name="adj" fmla="val 3333"/>
            </a:avLst>
          </a:prstGeom>
          <a:solidFill>
            <a:srgbClr val="111111"/>
          </a:solidFill>
          <a:ln w="12700">
            <a:solidFill>
              <a:srgbClr val="262626"/>
            </a:solid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6876" y="2423160"/>
            <a:ext cx="2826410" cy="292608"/>
          </a:xfrm>
          <a:prstGeom prst="rect">
            <a:avLst/>
          </a:prstGeom>
          <a:noFill/>
        </p:spPr>
        <p:txBody>
          <a:bodyPr wrap="square" anchor="t" lIns="0" rIns="0" tIns="0" bIns="0">
            <a:spAutoFit/>
          </a:bodyPr>
          <a:lstStyle/>
          <a:p>
            <a:pPr algn="l"/>
            <a:r>
              <a:rPr sz="1100" b="1" i="0" spc="220">
                <a:solidFill>
                  <a:srgbClr val="25D07C"/>
                </a:solidFill>
                <a:latin typeface="Arial"/>
              </a:rPr>
              <a:t>REACHABILITY</a:t>
            </a:r>
          </a:p>
        </p:txBody>
      </p:sp>
      <p:sp>
        <p:nvSpPr>
          <p:cNvPr id="14" name="TextBox 13"/>
          <p:cNvSpPr txBox="1"/>
          <p:nvPr/>
        </p:nvSpPr>
        <p:spPr>
          <a:xfrm>
            <a:off x="8386876" y="2825496"/>
            <a:ext cx="2826410" cy="914400"/>
          </a:xfrm>
          <a:prstGeom prst="rect">
            <a:avLst/>
          </a:prstGeom>
          <a:noFill/>
        </p:spPr>
        <p:txBody>
          <a:bodyPr wrap="square" anchor="t" lIns="0" rIns="0" tIns="0" bIns="0">
            <a:spAutoFit/>
          </a:bodyPr>
          <a:lstStyle/>
          <a:p>
            <a:pPr algn="l"/>
            <a:r>
              <a:rPr sz="4800" b="1" i="0">
                <a:solidFill>
                  <a:srgbClr val="08F078"/>
                </a:solidFill>
                <a:latin typeface="Arial"/>
              </a:rPr>
              <a:t>93.3%</a:t>
            </a:r>
          </a:p>
        </p:txBody>
      </p:sp>
      <p:sp>
        <p:nvSpPr>
          <p:cNvPr id="15" name="TextBox 14"/>
          <p:cNvSpPr txBox="1"/>
          <p:nvPr/>
        </p:nvSpPr>
        <p:spPr>
          <a:xfrm>
            <a:off x="8386876" y="3831335"/>
            <a:ext cx="2826410" cy="1234440"/>
          </a:xfrm>
          <a:prstGeom prst="rect">
            <a:avLst/>
          </a:prstGeom>
          <a:noFill/>
        </p:spPr>
        <p:txBody>
          <a:bodyPr wrap="square" anchor="t" lIns="0" rIns="0" tIns="0" bIns="0">
            <a:spAutoFit/>
          </a:bodyPr>
          <a:lstStyle/>
          <a:p>
            <a:pPr algn="l">
              <a:lnSpc>
                <a:spcPct val="130000"/>
              </a:lnSpc>
            </a:pPr>
            <a:r>
              <a:rPr sz="1400" b="0" i="0">
                <a:solidFill>
                  <a:srgbClr val="FFFFFF"/>
                </a:solidFill>
                <a:latin typeface="Arial"/>
              </a:rPr>
              <a:t>reachability analysis on the same repo</a:t>
            </a:r>
          </a:p>
        </p:txBody>
      </p:sp>
      <p:sp>
        <p:nvSpPr>
          <p:cNvPr id="16" name="TextBox 15"/>
          <p:cNvSpPr txBox="1"/>
          <p:nvPr/>
        </p:nvSpPr>
        <p:spPr>
          <a:xfrm>
            <a:off x="685800" y="5486400"/>
            <a:ext cx="10820095" cy="731520"/>
          </a:xfrm>
          <a:prstGeom prst="rect">
            <a:avLst/>
          </a:prstGeom>
          <a:noFill/>
        </p:spPr>
        <p:txBody>
          <a:bodyPr wrap="square" anchor="t" lIns="0" rIns="0" tIns="0" bIns="0">
            <a:spAutoFit/>
          </a:bodyPr>
          <a:lstStyle/>
          <a:p>
            <a:pPr algn="ctr">
              <a:lnSpc>
                <a:spcPct val="120000"/>
              </a:lnSpc>
            </a:pPr>
            <a:r>
              <a:rPr sz="1800" b="1" i="0">
                <a:solidFill>
                  <a:srgbClr val="25D07C"/>
                </a:solidFill>
                <a:latin typeface="Arial"/>
              </a:rPr>
              <a:t>C# support was promised for April and shipped in April</a:t>
            </a:r>
          </a:p>
        </p:txBody>
      </p:sp>
      <p:pic>
        <p:nvPicPr>
          <p:cNvPr id="17" name="Picture 16" descr="endor-mark.png"/>
          <p:cNvPicPr>
            <a:picLocks noChangeAspect="1"/>
          </p:cNvPicPr>
          <p:nvPr/>
        </p:nvPicPr>
        <p:blipFill>
          <a:blip r:embed="rId2"/>
          <a:stretch>
            <a:fillRect/>
          </a:stretch>
        </p:blipFill>
        <p:spPr>
          <a:xfrm>
            <a:off x="256032" y="6510528"/>
            <a:ext cx="123637" cy="137160"/>
          </a:xfrm>
          <a:prstGeom prst="rect">
            <a:avLst/>
          </a:prstGeom>
        </p:spPr>
      </p:pic>
      <p:sp>
        <p:nvSpPr>
          <p:cNvPr id="18" name="TextBox 17"/>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12</a:t>
            </a:r>
          </a:p>
        </p:txBody>
      </p:sp>
      <p:sp>
        <p:nvSpPr>
          <p:cNvPr id="19" name="TextBox 18"/>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AT SCALE</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Teams at Unity's scale see it hold</a:t>
            </a:r>
          </a:p>
        </p:txBody>
      </p:sp>
      <p:sp>
        <p:nvSpPr>
          <p:cNvPr id="4" name="TextBox 3"/>
          <p:cNvSpPr txBox="1"/>
          <p:nvPr/>
        </p:nvSpPr>
        <p:spPr>
          <a:xfrm>
            <a:off x="868680" y="2514600"/>
            <a:ext cx="3240938" cy="1280160"/>
          </a:xfrm>
          <a:prstGeom prst="rect">
            <a:avLst/>
          </a:prstGeom>
          <a:noFill/>
        </p:spPr>
        <p:txBody>
          <a:bodyPr wrap="square" anchor="ctr" lIns="0" rIns="0" tIns="0" bIns="0">
            <a:spAutoFit/>
          </a:bodyPr>
          <a:lstStyle/>
          <a:p>
            <a:pPr algn="ctr"/>
            <a:r>
              <a:rPr sz="6600" b="1" i="0">
                <a:solidFill>
                  <a:srgbClr val="08F078"/>
                </a:solidFill>
                <a:latin typeface="Arial"/>
              </a:rPr>
              <a:t>97%</a:t>
            </a:r>
          </a:p>
        </p:txBody>
      </p:sp>
      <p:sp>
        <p:nvSpPr>
          <p:cNvPr id="5" name="TextBox 4"/>
          <p:cNvSpPr txBox="1"/>
          <p:nvPr/>
        </p:nvSpPr>
        <p:spPr>
          <a:xfrm>
            <a:off x="914400" y="3904487"/>
            <a:ext cx="3149498" cy="914400"/>
          </a:xfrm>
          <a:prstGeom prst="rect">
            <a:avLst/>
          </a:prstGeom>
          <a:noFill/>
        </p:spPr>
        <p:txBody>
          <a:bodyPr wrap="square" anchor="t" lIns="0" rIns="0" tIns="0" bIns="0">
            <a:spAutoFit/>
          </a:bodyPr>
          <a:lstStyle/>
          <a:p>
            <a:pPr algn="ctr">
              <a:lnSpc>
                <a:spcPct val="125000"/>
              </a:lnSpc>
            </a:pPr>
            <a:r>
              <a:rPr sz="1600" b="1" i="0">
                <a:solidFill>
                  <a:srgbClr val="FFFFFF"/>
                </a:solidFill>
                <a:latin typeface="Arial"/>
              </a:rPr>
              <a:t>reduction in non actionable alerts</a:t>
            </a:r>
          </a:p>
        </p:txBody>
      </p:sp>
      <p:sp>
        <p:nvSpPr>
          <p:cNvPr id="6" name="TextBox 5"/>
          <p:cNvSpPr txBox="1"/>
          <p:nvPr/>
        </p:nvSpPr>
        <p:spPr>
          <a:xfrm>
            <a:off x="914400" y="4846320"/>
            <a:ext cx="3149498" cy="320040"/>
          </a:xfrm>
          <a:prstGeom prst="rect">
            <a:avLst/>
          </a:prstGeom>
          <a:noFill/>
        </p:spPr>
        <p:txBody>
          <a:bodyPr wrap="square" anchor="t" lIns="0" rIns="0" tIns="0" bIns="0">
            <a:spAutoFit/>
          </a:bodyPr>
          <a:lstStyle/>
          <a:p>
            <a:pPr algn="ctr"/>
            <a:r>
              <a:rPr sz="1200" b="0" i="0">
                <a:solidFill>
                  <a:srgbClr val="9E9E9E"/>
                </a:solidFill>
                <a:latin typeface="Arial"/>
              </a:rPr>
              <a:t>Zebra Technologies</a:t>
            </a:r>
          </a:p>
        </p:txBody>
      </p:sp>
      <p:sp>
        <p:nvSpPr>
          <p:cNvPr id="7" name="TextBox 6"/>
          <p:cNvSpPr txBox="1"/>
          <p:nvPr/>
        </p:nvSpPr>
        <p:spPr>
          <a:xfrm>
            <a:off x="4475378" y="2514600"/>
            <a:ext cx="3240938" cy="1280160"/>
          </a:xfrm>
          <a:prstGeom prst="rect">
            <a:avLst/>
          </a:prstGeom>
          <a:noFill/>
        </p:spPr>
        <p:txBody>
          <a:bodyPr wrap="square" anchor="ctr" lIns="0" rIns="0" tIns="0" bIns="0">
            <a:spAutoFit/>
          </a:bodyPr>
          <a:lstStyle/>
          <a:p>
            <a:pPr algn="ctr"/>
            <a:r>
              <a:rPr sz="6600" b="1" i="0">
                <a:solidFill>
                  <a:srgbClr val="08F078"/>
                </a:solidFill>
                <a:latin typeface="Arial"/>
              </a:rPr>
              <a:t>96.5%</a:t>
            </a:r>
          </a:p>
        </p:txBody>
      </p:sp>
      <p:sp>
        <p:nvSpPr>
          <p:cNvPr id="8" name="TextBox 7"/>
          <p:cNvSpPr txBox="1"/>
          <p:nvPr/>
        </p:nvSpPr>
        <p:spPr>
          <a:xfrm>
            <a:off x="4521098" y="3904487"/>
            <a:ext cx="3149498" cy="914400"/>
          </a:xfrm>
          <a:prstGeom prst="rect">
            <a:avLst/>
          </a:prstGeom>
          <a:noFill/>
        </p:spPr>
        <p:txBody>
          <a:bodyPr wrap="square" anchor="t" lIns="0" rIns="0" tIns="0" bIns="0">
            <a:spAutoFit/>
          </a:bodyPr>
          <a:lstStyle/>
          <a:p>
            <a:pPr algn="ctr">
              <a:lnSpc>
                <a:spcPct val="125000"/>
              </a:lnSpc>
            </a:pPr>
            <a:r>
              <a:rPr sz="1600" b="1" i="0">
                <a:solidFill>
                  <a:srgbClr val="FFFFFF"/>
                </a:solidFill>
                <a:latin typeface="Arial"/>
              </a:rPr>
              <a:t>noise reduction, 50,000 findings to 30 or 40</a:t>
            </a:r>
          </a:p>
        </p:txBody>
      </p:sp>
      <p:sp>
        <p:nvSpPr>
          <p:cNvPr id="9" name="TextBox 8"/>
          <p:cNvSpPr txBox="1"/>
          <p:nvPr/>
        </p:nvSpPr>
        <p:spPr>
          <a:xfrm>
            <a:off x="4521098" y="4846320"/>
            <a:ext cx="3149498" cy="320040"/>
          </a:xfrm>
          <a:prstGeom prst="rect">
            <a:avLst/>
          </a:prstGeom>
          <a:noFill/>
        </p:spPr>
        <p:txBody>
          <a:bodyPr wrap="square" anchor="t" lIns="0" rIns="0" tIns="0" bIns="0">
            <a:spAutoFit/>
          </a:bodyPr>
          <a:lstStyle/>
          <a:p>
            <a:pPr algn="ctr"/>
            <a:r>
              <a:rPr sz="1200" b="0" i="0">
                <a:solidFill>
                  <a:srgbClr val="9E9E9E"/>
                </a:solidFill>
                <a:latin typeface="Arial"/>
              </a:rPr>
              <a:t>Five9</a:t>
            </a:r>
          </a:p>
        </p:txBody>
      </p:sp>
      <p:sp>
        <p:nvSpPr>
          <p:cNvPr id="10" name="Rectangle 9"/>
          <p:cNvSpPr/>
          <p:nvPr/>
        </p:nvSpPr>
        <p:spPr>
          <a:xfrm>
            <a:off x="4292498" y="2423160"/>
            <a:ext cx="16459" cy="2606040"/>
          </a:xfrm>
          <a:prstGeom prst="rect">
            <a:avLst/>
          </a:prstGeom>
          <a:gradFill rotWithShape="1">
            <a:gsLst>
              <a:gs pos="0">
                <a:srgbClr val="25D07C"/>
              </a:gs>
              <a:gs pos="100000">
                <a:srgbClr val="8B6CF2"/>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82076" y="2514600"/>
            <a:ext cx="3240938" cy="1280160"/>
          </a:xfrm>
          <a:prstGeom prst="rect">
            <a:avLst/>
          </a:prstGeom>
          <a:noFill/>
        </p:spPr>
        <p:txBody>
          <a:bodyPr wrap="square" anchor="ctr" lIns="0" rIns="0" tIns="0" bIns="0">
            <a:spAutoFit/>
          </a:bodyPr>
          <a:lstStyle/>
          <a:p>
            <a:pPr algn="ctr"/>
            <a:r>
              <a:rPr sz="6600" b="1" i="0">
                <a:solidFill>
                  <a:srgbClr val="08F078"/>
                </a:solidFill>
                <a:latin typeface="Arial"/>
              </a:rPr>
              <a:t>70%</a:t>
            </a:r>
          </a:p>
        </p:txBody>
      </p:sp>
      <p:sp>
        <p:nvSpPr>
          <p:cNvPr id="12" name="TextBox 11"/>
          <p:cNvSpPr txBox="1"/>
          <p:nvPr/>
        </p:nvSpPr>
        <p:spPr>
          <a:xfrm>
            <a:off x="8127796" y="3904487"/>
            <a:ext cx="3149498" cy="914400"/>
          </a:xfrm>
          <a:prstGeom prst="rect">
            <a:avLst/>
          </a:prstGeom>
          <a:noFill/>
        </p:spPr>
        <p:txBody>
          <a:bodyPr wrap="square" anchor="t" lIns="0" rIns="0" tIns="0" bIns="0">
            <a:spAutoFit/>
          </a:bodyPr>
          <a:lstStyle/>
          <a:p>
            <a:pPr algn="ctr">
              <a:lnSpc>
                <a:spcPct val="125000"/>
              </a:lnSpc>
            </a:pPr>
            <a:r>
              <a:rPr sz="1600" b="1" i="0">
                <a:solidFill>
                  <a:srgbClr val="FFFFFF"/>
                </a:solidFill>
                <a:latin typeface="Arial"/>
              </a:rPr>
              <a:t>MTTR decrease</a:t>
            </a:r>
          </a:p>
        </p:txBody>
      </p:sp>
      <p:sp>
        <p:nvSpPr>
          <p:cNvPr id="13" name="TextBox 12"/>
          <p:cNvSpPr txBox="1"/>
          <p:nvPr/>
        </p:nvSpPr>
        <p:spPr>
          <a:xfrm>
            <a:off x="8127796" y="4846320"/>
            <a:ext cx="3149498" cy="320040"/>
          </a:xfrm>
          <a:prstGeom prst="rect">
            <a:avLst/>
          </a:prstGeom>
          <a:noFill/>
        </p:spPr>
        <p:txBody>
          <a:bodyPr wrap="square" anchor="t" lIns="0" rIns="0" tIns="0" bIns="0">
            <a:spAutoFit/>
          </a:bodyPr>
          <a:lstStyle/>
          <a:p>
            <a:pPr algn="ctr"/>
            <a:r>
              <a:rPr sz="1200" b="0" i="0">
                <a:solidFill>
                  <a:srgbClr val="9E9E9E"/>
                </a:solidFill>
                <a:latin typeface="Arial"/>
              </a:rPr>
              <a:t>Egnyte</a:t>
            </a:r>
          </a:p>
        </p:txBody>
      </p:sp>
      <p:sp>
        <p:nvSpPr>
          <p:cNvPr id="14" name="Rectangle 13"/>
          <p:cNvSpPr/>
          <p:nvPr/>
        </p:nvSpPr>
        <p:spPr>
          <a:xfrm>
            <a:off x="7899196" y="2423160"/>
            <a:ext cx="16459" cy="2606040"/>
          </a:xfrm>
          <a:prstGeom prst="rect">
            <a:avLst/>
          </a:prstGeom>
          <a:gradFill rotWithShape="1">
            <a:gsLst>
              <a:gs pos="0">
                <a:srgbClr val="25D07C"/>
              </a:gs>
              <a:gs pos="100000">
                <a:srgbClr val="8B6CF2"/>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ndor-mark.png"/>
          <p:cNvPicPr>
            <a:picLocks noChangeAspect="1"/>
          </p:cNvPicPr>
          <p:nvPr/>
        </p:nvPicPr>
        <p:blipFill>
          <a:blip r:embed="rId2"/>
          <a:stretch>
            <a:fillRect/>
          </a:stretch>
        </p:blipFill>
        <p:spPr>
          <a:xfrm>
            <a:off x="256032" y="6510528"/>
            <a:ext cx="123637" cy="137160"/>
          </a:xfrm>
          <a:prstGeom prst="rect">
            <a:avLst/>
          </a:prstGeom>
        </p:spPr>
      </p:pic>
      <p:sp>
        <p:nvSpPr>
          <p:cNvPr id="16" name="TextBox 15"/>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13</a:t>
            </a:r>
          </a:p>
        </p:txBody>
      </p:sp>
      <p:sp>
        <p:nvSpPr>
          <p:cNvPr id="17" name="TextBox 16"/>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glow-sof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1188720"/>
            <a:ext cx="10820095" cy="292608"/>
          </a:xfrm>
          <a:prstGeom prst="rect">
            <a:avLst/>
          </a:prstGeom>
          <a:noFill/>
        </p:spPr>
        <p:txBody>
          <a:bodyPr wrap="square" anchor="t" lIns="0" rIns="0" tIns="0" bIns="0">
            <a:spAutoFit/>
          </a:bodyPr>
          <a:lstStyle/>
          <a:p>
            <a:pPr algn="ctr"/>
            <a:r>
              <a:rPr sz="1400" b="1" i="0" spc="220">
                <a:solidFill>
                  <a:srgbClr val="25D07C"/>
                </a:solidFill>
                <a:latin typeface="Arial"/>
              </a:rPr>
              <a:t>WHAT THE PREMIUM BUYS: CODE PRO</a:t>
            </a:r>
          </a:p>
        </p:txBody>
      </p:sp>
      <p:sp>
        <p:nvSpPr>
          <p:cNvPr id="4" name="TextBox 3"/>
          <p:cNvSpPr txBox="1"/>
          <p:nvPr/>
        </p:nvSpPr>
        <p:spPr>
          <a:xfrm>
            <a:off x="685800" y="1691640"/>
            <a:ext cx="10820095" cy="2194560"/>
          </a:xfrm>
          <a:prstGeom prst="rect">
            <a:avLst/>
          </a:prstGeom>
          <a:noFill/>
        </p:spPr>
        <p:txBody>
          <a:bodyPr wrap="square" anchor="ctr" lIns="0" rIns="0" tIns="0" bIns="0">
            <a:spAutoFit/>
          </a:bodyPr>
          <a:lstStyle/>
          <a:p>
            <a:pPr algn="ctr"/>
            <a:r>
              <a:rPr sz="14000" b="1" i="0">
                <a:solidFill>
                  <a:srgbClr val="FFFFFF"/>
                </a:solidFill>
                <a:latin typeface="Arial"/>
              </a:rPr>
              <a:t>3.6x</a:t>
            </a:r>
          </a:p>
        </p:txBody>
      </p:sp>
      <p:sp>
        <p:nvSpPr>
          <p:cNvPr id="5" name="Oval 4"/>
          <p:cNvSpPr/>
          <p:nvPr/>
        </p:nvSpPr>
        <p:spPr>
          <a:xfrm rot="21420000">
            <a:off x="3937190" y="1562100"/>
            <a:ext cx="4317313" cy="2453640"/>
          </a:xfrm>
          <a:prstGeom prst="ellipse">
            <a:avLst/>
          </a:prstGeom>
          <a:noFill/>
          <a:ln w="31750">
            <a:solidFill>
              <a:srgbClr val="25D0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224528"/>
            <a:ext cx="8534095" cy="1005840"/>
          </a:xfrm>
          <a:prstGeom prst="rect">
            <a:avLst/>
          </a:prstGeom>
          <a:noFill/>
        </p:spPr>
        <p:txBody>
          <a:bodyPr wrap="square" anchor="t" lIns="0" rIns="0" tIns="0" bIns="0">
            <a:spAutoFit/>
          </a:bodyPr>
          <a:lstStyle/>
          <a:p>
            <a:pPr algn="ctr">
              <a:lnSpc>
                <a:spcPct val="120000"/>
              </a:lnSpc>
            </a:pPr>
            <a:r>
              <a:rPr sz="2200" b="1" i="0">
                <a:solidFill>
                  <a:srgbClr val="FFFFFF"/>
                </a:solidFill>
                <a:latin typeface="Arial"/>
              </a:rPr>
              <a:t>more true positives than GitHub CodeQL, head to head</a:t>
            </a:r>
          </a:p>
        </p:txBody>
      </p:sp>
      <p:sp>
        <p:nvSpPr>
          <p:cNvPr id="7" name="TextBox 6"/>
          <p:cNvSpPr txBox="1"/>
          <p:nvPr/>
        </p:nvSpPr>
        <p:spPr>
          <a:xfrm>
            <a:off x="685800" y="5852160"/>
            <a:ext cx="10820095" cy="320040"/>
          </a:xfrm>
          <a:prstGeom prst="rect">
            <a:avLst/>
          </a:prstGeom>
          <a:noFill/>
        </p:spPr>
        <p:txBody>
          <a:bodyPr wrap="square" anchor="t" lIns="0" rIns="0" tIns="0" bIns="0">
            <a:spAutoFit/>
          </a:bodyPr>
          <a:lstStyle/>
          <a:p>
            <a:pPr algn="ctr"/>
            <a:r>
              <a:rPr sz="1100" b="0" i="0">
                <a:solidFill>
                  <a:srgbClr val="9E9E9E"/>
                </a:solidFill>
                <a:latin typeface="Arial"/>
              </a:rPr>
              <a:t>Endor Labs AI SAST vs CodeQL testing, 2026: 3.6x true positives, 2.8x CWE coverage, 2.7x file coverage</a:t>
            </a:r>
          </a:p>
        </p:txBody>
      </p:sp>
      <p:pic>
        <p:nvPicPr>
          <p:cNvPr id="8" name="Picture 7" descr="endor-mark.png"/>
          <p:cNvPicPr>
            <a:picLocks noChangeAspect="1"/>
          </p:cNvPicPr>
          <p:nvPr/>
        </p:nvPicPr>
        <p:blipFill>
          <a:blip r:embed="rId3"/>
          <a:stretch>
            <a:fillRect/>
          </a:stretch>
        </p:blipFill>
        <p:spPr>
          <a:xfrm>
            <a:off x="256032" y="6510528"/>
            <a:ext cx="123637" cy="137160"/>
          </a:xfrm>
          <a:prstGeom prst="rect">
            <a:avLst/>
          </a:prstGeom>
        </p:spPr>
      </p:pic>
      <p:sp>
        <p:nvSpPr>
          <p:cNvPr id="9" name="TextBox 8"/>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14</a:t>
            </a:r>
          </a:p>
        </p:txBody>
      </p:sp>
      <p:sp>
        <p:nvSpPr>
          <p:cNvPr id="10" name="TextBox 9"/>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AI SAST BENCHMARK, JUNE 2026</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SAST that reasons about code</a:t>
            </a:r>
          </a:p>
        </p:txBody>
      </p:sp>
      <p:sp>
        <p:nvSpPr>
          <p:cNvPr id="4" name="Rounded Rectangle 3"/>
          <p:cNvSpPr/>
          <p:nvPr/>
        </p:nvSpPr>
        <p:spPr>
          <a:xfrm>
            <a:off x="685800" y="2103120"/>
            <a:ext cx="3411626" cy="3017520"/>
          </a:xfrm>
          <a:prstGeom prst="roundRect">
            <a:avLst>
              <a:gd name="adj" fmla="val 3333"/>
            </a:avLst>
          </a:prstGeom>
          <a:solidFill>
            <a:srgbClr val="111111"/>
          </a:solidFill>
          <a:ln w="12700">
            <a:solidFill>
              <a:srgbClr val="262626"/>
            </a:solid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423160"/>
            <a:ext cx="2826410" cy="292608"/>
          </a:xfrm>
          <a:prstGeom prst="rect">
            <a:avLst/>
          </a:prstGeom>
          <a:noFill/>
        </p:spPr>
        <p:txBody>
          <a:bodyPr wrap="square" anchor="t" lIns="0" rIns="0" tIns="0" bIns="0">
            <a:spAutoFit/>
          </a:bodyPr>
          <a:lstStyle/>
          <a:p>
            <a:pPr algn="l"/>
            <a:r>
              <a:rPr sz="1100" b="1" i="0" spc="220">
                <a:solidFill>
                  <a:srgbClr val="25D07C"/>
                </a:solidFill>
                <a:latin typeface="Arial"/>
              </a:rPr>
              <a:t>REAL VULNERABILITIES</a:t>
            </a:r>
          </a:p>
        </p:txBody>
      </p:sp>
      <p:sp>
        <p:nvSpPr>
          <p:cNvPr id="6" name="TextBox 5"/>
          <p:cNvSpPr txBox="1"/>
          <p:nvPr/>
        </p:nvSpPr>
        <p:spPr>
          <a:xfrm>
            <a:off x="978408" y="2825496"/>
            <a:ext cx="2826410" cy="914400"/>
          </a:xfrm>
          <a:prstGeom prst="rect">
            <a:avLst/>
          </a:prstGeom>
          <a:noFill/>
        </p:spPr>
        <p:txBody>
          <a:bodyPr wrap="square" anchor="t" lIns="0" rIns="0" tIns="0" bIns="0">
            <a:spAutoFit/>
          </a:bodyPr>
          <a:lstStyle/>
          <a:p>
            <a:pPr algn="l"/>
            <a:r>
              <a:rPr sz="4800" b="1" i="0">
                <a:solidFill>
                  <a:srgbClr val="08F078"/>
                </a:solidFill>
                <a:latin typeface="Arial"/>
              </a:rPr>
              <a:t>192</a:t>
            </a:r>
          </a:p>
        </p:txBody>
      </p:sp>
      <p:sp>
        <p:nvSpPr>
          <p:cNvPr id="7" name="TextBox 6"/>
          <p:cNvSpPr txBox="1"/>
          <p:nvPr/>
        </p:nvSpPr>
        <p:spPr>
          <a:xfrm>
            <a:off x="978408" y="3831335"/>
            <a:ext cx="2826410" cy="1234440"/>
          </a:xfrm>
          <a:prstGeom prst="rect">
            <a:avLst/>
          </a:prstGeom>
          <a:noFill/>
        </p:spPr>
        <p:txBody>
          <a:bodyPr wrap="square" anchor="t" lIns="0" rIns="0" tIns="0" bIns="0">
            <a:spAutoFit/>
          </a:bodyPr>
          <a:lstStyle/>
          <a:p>
            <a:pPr algn="l">
              <a:lnSpc>
                <a:spcPct val="130000"/>
              </a:lnSpc>
            </a:pPr>
            <a:r>
              <a:rPr sz="1400" b="0" i="0">
                <a:solidFill>
                  <a:srgbClr val="FFFFFF"/>
                </a:solidFill>
                <a:latin typeface="Arial"/>
              </a:rPr>
              <a:t>found across 8 projects, 3x frontier models</a:t>
            </a:r>
          </a:p>
        </p:txBody>
      </p:sp>
      <p:sp>
        <p:nvSpPr>
          <p:cNvPr id="8" name="Rounded Rectangle 7"/>
          <p:cNvSpPr/>
          <p:nvPr/>
        </p:nvSpPr>
        <p:spPr>
          <a:xfrm>
            <a:off x="4390034" y="2103120"/>
            <a:ext cx="3411626" cy="3017520"/>
          </a:xfrm>
          <a:prstGeom prst="roundRect">
            <a:avLst>
              <a:gd name="adj" fmla="val 3333"/>
            </a:avLst>
          </a:prstGeom>
          <a:gradFill rotWithShape="1">
            <a:gsLst>
              <a:gs pos="0">
                <a:srgbClr val="0D2016"/>
              </a:gs>
              <a:gs pos="100000">
                <a:srgbClr val="1E8F58"/>
              </a:gs>
            </a:gsLst>
            <a:lin scaled="0" ang="18900000"/>
          </a:gradFill>
          <a:ln w="12700">
            <a:solidFill>
              <a:srgbClr val="262626"/>
            </a:solidFill>
          </a:ln>
          <a:effectLst>
            <a:outerShdw blurRad="276225" dist="47625" dir="5400000" rotWithShape="0">
              <a:srgbClr val="00F078">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2642" y="2423160"/>
            <a:ext cx="2826410" cy="292608"/>
          </a:xfrm>
          <a:prstGeom prst="rect">
            <a:avLst/>
          </a:prstGeom>
          <a:noFill/>
        </p:spPr>
        <p:txBody>
          <a:bodyPr wrap="square" anchor="t" lIns="0" rIns="0" tIns="0" bIns="0">
            <a:spAutoFit/>
          </a:bodyPr>
          <a:lstStyle/>
          <a:p>
            <a:pPr algn="l"/>
            <a:r>
              <a:rPr sz="1100" b="1" i="0" spc="220">
                <a:solidFill>
                  <a:srgbClr val="25D07C"/>
                </a:solidFill>
                <a:latin typeface="Arial"/>
              </a:rPr>
              <a:t>FOUND BY NO ONE ELSE</a:t>
            </a:r>
          </a:p>
        </p:txBody>
      </p:sp>
      <p:sp>
        <p:nvSpPr>
          <p:cNvPr id="10" name="TextBox 9"/>
          <p:cNvSpPr txBox="1"/>
          <p:nvPr/>
        </p:nvSpPr>
        <p:spPr>
          <a:xfrm>
            <a:off x="4682642" y="2825496"/>
            <a:ext cx="2826410" cy="914400"/>
          </a:xfrm>
          <a:prstGeom prst="rect">
            <a:avLst/>
          </a:prstGeom>
          <a:noFill/>
        </p:spPr>
        <p:txBody>
          <a:bodyPr wrap="square" anchor="t" lIns="0" rIns="0" tIns="0" bIns="0">
            <a:spAutoFit/>
          </a:bodyPr>
          <a:lstStyle/>
          <a:p>
            <a:pPr algn="l"/>
            <a:r>
              <a:rPr sz="4800" b="1" i="0">
                <a:solidFill>
                  <a:srgbClr val="FFFFFF"/>
                </a:solidFill>
                <a:latin typeface="Arial"/>
              </a:rPr>
              <a:t>63</a:t>
            </a:r>
          </a:p>
        </p:txBody>
      </p:sp>
      <p:sp>
        <p:nvSpPr>
          <p:cNvPr id="11" name="TextBox 10"/>
          <p:cNvSpPr txBox="1"/>
          <p:nvPr/>
        </p:nvSpPr>
        <p:spPr>
          <a:xfrm>
            <a:off x="4682642" y="3831335"/>
            <a:ext cx="2826410" cy="1234440"/>
          </a:xfrm>
          <a:prstGeom prst="rect">
            <a:avLst/>
          </a:prstGeom>
          <a:noFill/>
        </p:spPr>
        <p:txBody>
          <a:bodyPr wrap="square" anchor="t" lIns="0" rIns="0" tIns="0" bIns="0">
            <a:spAutoFit/>
          </a:bodyPr>
          <a:lstStyle/>
          <a:p>
            <a:pPr algn="l">
              <a:lnSpc>
                <a:spcPct val="130000"/>
              </a:lnSpc>
            </a:pPr>
            <a:r>
              <a:rPr sz="1400" b="0" i="0">
                <a:solidFill>
                  <a:srgbClr val="FFFFFF"/>
                </a:solidFill>
                <a:latin typeface="Arial"/>
              </a:rPr>
              <a:t>findings no other tool caught, runner up 18</a:t>
            </a:r>
          </a:p>
        </p:txBody>
      </p:sp>
      <p:sp>
        <p:nvSpPr>
          <p:cNvPr id="12" name="Rounded Rectangle 11"/>
          <p:cNvSpPr/>
          <p:nvPr/>
        </p:nvSpPr>
        <p:spPr>
          <a:xfrm>
            <a:off x="8094268" y="2103120"/>
            <a:ext cx="3411626" cy="3017520"/>
          </a:xfrm>
          <a:prstGeom prst="roundRect">
            <a:avLst>
              <a:gd name="adj" fmla="val 3333"/>
            </a:avLst>
          </a:prstGeom>
          <a:solidFill>
            <a:srgbClr val="111111"/>
          </a:solidFill>
          <a:ln w="12700">
            <a:solidFill>
              <a:srgbClr val="262626"/>
            </a:solid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6876" y="2423160"/>
            <a:ext cx="2826410" cy="292608"/>
          </a:xfrm>
          <a:prstGeom prst="rect">
            <a:avLst/>
          </a:prstGeom>
          <a:noFill/>
        </p:spPr>
        <p:txBody>
          <a:bodyPr wrap="square" anchor="t" lIns="0" rIns="0" tIns="0" bIns="0">
            <a:spAutoFit/>
          </a:bodyPr>
          <a:lstStyle/>
          <a:p>
            <a:pPr algn="l"/>
            <a:r>
              <a:rPr sz="1100" b="1" i="0" spc="220">
                <a:solidFill>
                  <a:srgbClr val="25D07C"/>
                </a:solidFill>
                <a:latin typeface="Arial"/>
              </a:rPr>
              <a:t>HIGH SEVERITY</a:t>
            </a:r>
          </a:p>
        </p:txBody>
      </p:sp>
      <p:sp>
        <p:nvSpPr>
          <p:cNvPr id="14" name="TextBox 13"/>
          <p:cNvSpPr txBox="1"/>
          <p:nvPr/>
        </p:nvSpPr>
        <p:spPr>
          <a:xfrm>
            <a:off x="8386876" y="2825496"/>
            <a:ext cx="2826410" cy="914400"/>
          </a:xfrm>
          <a:prstGeom prst="rect">
            <a:avLst/>
          </a:prstGeom>
          <a:noFill/>
        </p:spPr>
        <p:txBody>
          <a:bodyPr wrap="square" anchor="t" lIns="0" rIns="0" tIns="0" bIns="0">
            <a:spAutoFit/>
          </a:bodyPr>
          <a:lstStyle/>
          <a:p>
            <a:pPr algn="l"/>
            <a:r>
              <a:rPr sz="4800" b="1" i="0">
                <a:solidFill>
                  <a:srgbClr val="08F078"/>
                </a:solidFill>
                <a:latin typeface="Arial"/>
              </a:rPr>
              <a:t>4x</a:t>
            </a:r>
          </a:p>
        </p:txBody>
      </p:sp>
      <p:sp>
        <p:nvSpPr>
          <p:cNvPr id="15" name="TextBox 14"/>
          <p:cNvSpPr txBox="1"/>
          <p:nvPr/>
        </p:nvSpPr>
        <p:spPr>
          <a:xfrm>
            <a:off x="8386876" y="3831335"/>
            <a:ext cx="2826410" cy="1234440"/>
          </a:xfrm>
          <a:prstGeom prst="rect">
            <a:avLst/>
          </a:prstGeom>
          <a:noFill/>
        </p:spPr>
        <p:txBody>
          <a:bodyPr wrap="square" anchor="t" lIns="0" rIns="0" tIns="0" bIns="0">
            <a:spAutoFit/>
          </a:bodyPr>
          <a:lstStyle/>
          <a:p>
            <a:pPr algn="l">
              <a:lnSpc>
                <a:spcPct val="130000"/>
              </a:lnSpc>
            </a:pPr>
            <a:r>
              <a:rPr sz="1400" b="0" i="0">
                <a:solidFill>
                  <a:srgbClr val="FFFFFF"/>
                </a:solidFill>
                <a:latin typeface="Arial"/>
              </a:rPr>
              <a:t>more than the strongest traditional tool</a:t>
            </a:r>
          </a:p>
        </p:txBody>
      </p:sp>
      <p:sp>
        <p:nvSpPr>
          <p:cNvPr id="16" name="TextBox 15"/>
          <p:cNvSpPr txBox="1"/>
          <p:nvPr/>
        </p:nvSpPr>
        <p:spPr>
          <a:xfrm>
            <a:off x="685800" y="5486400"/>
            <a:ext cx="10820095" cy="731520"/>
          </a:xfrm>
          <a:prstGeom prst="rect">
            <a:avLst/>
          </a:prstGeom>
          <a:noFill/>
        </p:spPr>
        <p:txBody>
          <a:bodyPr wrap="square" anchor="t" lIns="0" rIns="0" tIns="0" bIns="0">
            <a:spAutoFit/>
          </a:bodyPr>
          <a:lstStyle/>
          <a:p>
            <a:pPr algn="ctr">
              <a:lnSpc>
                <a:spcPct val="120000"/>
              </a:lnSpc>
            </a:pPr>
            <a:r>
              <a:rPr sz="1800" b="1" i="0">
                <a:solidFill>
                  <a:srgbClr val="25D07C"/>
                </a:solidFill>
                <a:latin typeface="Arial"/>
              </a:rPr>
              <a:t>Catches broken access control and business logic flaws</a:t>
            </a:r>
          </a:p>
        </p:txBody>
      </p:sp>
      <p:pic>
        <p:nvPicPr>
          <p:cNvPr id="17" name="Picture 16" descr="endor-mark.png"/>
          <p:cNvPicPr>
            <a:picLocks noChangeAspect="1"/>
          </p:cNvPicPr>
          <p:nvPr/>
        </p:nvPicPr>
        <p:blipFill>
          <a:blip r:embed="rId2"/>
          <a:stretch>
            <a:fillRect/>
          </a:stretch>
        </p:blipFill>
        <p:spPr>
          <a:xfrm>
            <a:off x="256032" y="6510528"/>
            <a:ext cx="123637" cy="137160"/>
          </a:xfrm>
          <a:prstGeom prst="rect">
            <a:avLst/>
          </a:prstGeom>
        </p:spPr>
      </p:pic>
      <p:sp>
        <p:nvSpPr>
          <p:cNvPr id="18" name="TextBox 17"/>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15</a:t>
            </a:r>
          </a:p>
        </p:txBody>
      </p:sp>
      <p:sp>
        <p:nvSpPr>
          <p:cNvPr id="19" name="TextBox 18"/>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THE $250K QUESTION</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The gap is smaller than it looks</a:t>
            </a:r>
          </a:p>
        </p:txBody>
      </p:sp>
      <p:sp>
        <p:nvSpPr>
          <p:cNvPr id="4" name="Rectangle 3"/>
          <p:cNvSpPr/>
          <p:nvPr/>
        </p:nvSpPr>
        <p:spPr>
          <a:xfrm>
            <a:off x="685800" y="1828800"/>
            <a:ext cx="5158587" cy="3840479"/>
          </a:xfrm>
          <a:prstGeom prst="rect">
            <a:avLst/>
          </a:prstGeom>
          <a:solidFill>
            <a:srgbClr val="111111"/>
          </a:solidFill>
          <a:ln>
            <a:no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828800"/>
            <a:ext cx="5158587" cy="4572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76272"/>
            <a:ext cx="4518507" cy="292608"/>
          </a:xfrm>
          <a:prstGeom prst="rect">
            <a:avLst/>
          </a:prstGeom>
          <a:noFill/>
        </p:spPr>
        <p:txBody>
          <a:bodyPr wrap="square" anchor="t" lIns="0" rIns="0" tIns="0" bIns="0">
            <a:spAutoFit/>
          </a:bodyPr>
          <a:lstStyle/>
          <a:p>
            <a:pPr algn="ctr"/>
            <a:r>
              <a:rPr sz="1250" b="1" i="0" spc="220">
                <a:solidFill>
                  <a:srgbClr val="25D07C"/>
                </a:solidFill>
                <a:latin typeface="Arial"/>
              </a:rPr>
              <a:t>SPLIT STACK: $722K A YEAR</a:t>
            </a:r>
          </a:p>
        </p:txBody>
      </p:sp>
      <p:sp>
        <p:nvSpPr>
          <p:cNvPr id="7" name="TextBox 6"/>
          <p:cNvSpPr txBox="1"/>
          <p:nvPr/>
        </p:nvSpPr>
        <p:spPr>
          <a:xfrm>
            <a:off x="1280160" y="2633472"/>
            <a:ext cx="4244187" cy="868680"/>
          </a:xfrm>
          <a:prstGeom prst="rect">
            <a:avLst/>
          </a:prstGeom>
          <a:noFill/>
        </p:spPr>
        <p:txBody>
          <a:bodyPr wrap="square" anchor="t" lIns="0" rIns="0" tIns="0" bIns="0">
            <a:spAutoFit/>
          </a:bodyPr>
          <a:lstStyle/>
          <a:p>
            <a:pPr algn="l">
              <a:lnSpc>
                <a:spcPct val="120000"/>
              </a:lnSpc>
            </a:pPr>
            <a:r>
              <a:rPr sz="1450" b="1" i="0">
                <a:solidFill>
                  <a:srgbClr val="25D07C"/>
                </a:solidFill>
                <a:latin typeface="Arial"/>
              </a:rPr>
              <a:t>Cycode $472K, GitHub $250K</a:t>
            </a:r>
          </a:p>
          <a:p>
            <a:pPr algn="l">
              <a:lnSpc>
                <a:spcPct val="120000"/>
              </a:lnSpc>
            </a:pPr>
            <a:r>
              <a:rPr sz="1300" b="0" i="0">
                <a:solidFill>
                  <a:srgbClr val="FFFFFF"/>
                </a:solidFill>
                <a:latin typeface="Arial"/>
              </a:rPr>
              <a:t>Two vendors, one slice each</a:t>
            </a:r>
          </a:p>
        </p:txBody>
      </p:sp>
      <p:sp>
        <p:nvSpPr>
          <p:cNvPr id="8" name="4-Point Star 7"/>
          <p:cNvSpPr/>
          <p:nvPr/>
        </p:nvSpPr>
        <p:spPr>
          <a:xfrm>
            <a:off x="1005840" y="267004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3502152"/>
            <a:ext cx="4244187" cy="868680"/>
          </a:xfrm>
          <a:prstGeom prst="rect">
            <a:avLst/>
          </a:prstGeom>
          <a:noFill/>
        </p:spPr>
        <p:txBody>
          <a:bodyPr wrap="square" anchor="t" lIns="0" rIns="0" tIns="0" bIns="0">
            <a:spAutoFit/>
          </a:bodyPr>
          <a:lstStyle/>
          <a:p>
            <a:pPr algn="l">
              <a:lnSpc>
                <a:spcPct val="120000"/>
              </a:lnSpc>
            </a:pPr>
            <a:r>
              <a:rPr sz="1450" b="1" i="0">
                <a:solidFill>
                  <a:srgbClr val="25D07C"/>
                </a:solidFill>
                <a:latin typeface="Arial"/>
              </a:rPr>
              <a:t>A hidden tax on top</a:t>
            </a:r>
          </a:p>
          <a:p>
            <a:pPr algn="l">
              <a:lnSpc>
                <a:spcPct val="120000"/>
              </a:lnSpc>
            </a:pPr>
            <a:r>
              <a:rPr sz="1300" b="0" i="0">
                <a:solidFill>
                  <a:srgbClr val="FFFFFF"/>
                </a:solidFill>
                <a:latin typeface="Arial"/>
              </a:rPr>
              <a:t>Filter upkeep, legacy scanners, triage</a:t>
            </a:r>
          </a:p>
        </p:txBody>
      </p:sp>
      <p:sp>
        <p:nvSpPr>
          <p:cNvPr id="10" name="4-Point Star 9"/>
          <p:cNvSpPr/>
          <p:nvPr/>
        </p:nvSpPr>
        <p:spPr>
          <a:xfrm>
            <a:off x="1005840" y="353872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4370832"/>
            <a:ext cx="4244187" cy="868680"/>
          </a:xfrm>
          <a:prstGeom prst="rect">
            <a:avLst/>
          </a:prstGeom>
          <a:noFill/>
        </p:spPr>
        <p:txBody>
          <a:bodyPr wrap="square" anchor="t" lIns="0" rIns="0" tIns="0" bIns="0">
            <a:spAutoFit/>
          </a:bodyPr>
          <a:lstStyle/>
          <a:p>
            <a:pPr algn="l">
              <a:lnSpc>
                <a:spcPct val="120000"/>
              </a:lnSpc>
            </a:pPr>
            <a:r>
              <a:rPr sz="1450" b="1" i="0">
                <a:solidFill>
                  <a:srgbClr val="25D07C"/>
                </a:solidFill>
                <a:latin typeface="Arial"/>
              </a:rPr>
              <a:t>Cannot scan the Engine</a:t>
            </a:r>
          </a:p>
          <a:p>
            <a:pPr algn="l">
              <a:lnSpc>
                <a:spcPct val="120000"/>
              </a:lnSpc>
            </a:pPr>
            <a:r>
              <a:rPr sz="1300" b="0" i="0">
                <a:solidFill>
                  <a:srgbClr val="FFFFFF"/>
                </a:solidFill>
                <a:latin typeface="Arial"/>
              </a:rPr>
              <a:t>A second stack runs anyway</a:t>
            </a:r>
          </a:p>
        </p:txBody>
      </p:sp>
      <p:sp>
        <p:nvSpPr>
          <p:cNvPr id="12" name="4-Point Star 11"/>
          <p:cNvSpPr/>
          <p:nvPr/>
        </p:nvSpPr>
        <p:spPr>
          <a:xfrm>
            <a:off x="1005840" y="440740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47307" y="1828800"/>
            <a:ext cx="5158587" cy="3840479"/>
          </a:xfrm>
          <a:prstGeom prst="rect">
            <a:avLst/>
          </a:prstGeom>
          <a:solidFill>
            <a:srgbClr val="111111"/>
          </a:solidFill>
          <a:ln>
            <a:noFill/>
          </a:ln>
          <a:effectLst>
            <a:outerShdw blurRad="276225" dist="47625" dir="5400000" rotWithShape="0">
              <a:srgbClr val="00F078">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47307" y="1828800"/>
            <a:ext cx="5158587" cy="4572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7347" y="2176272"/>
            <a:ext cx="4518507" cy="292608"/>
          </a:xfrm>
          <a:prstGeom prst="rect">
            <a:avLst/>
          </a:prstGeom>
          <a:noFill/>
        </p:spPr>
        <p:txBody>
          <a:bodyPr wrap="square" anchor="t" lIns="0" rIns="0" tIns="0" bIns="0">
            <a:spAutoFit/>
          </a:bodyPr>
          <a:lstStyle/>
          <a:p>
            <a:pPr algn="ctr"/>
            <a:r>
              <a:rPr sz="1250" b="1" i="0" spc="220">
                <a:solidFill>
                  <a:srgbClr val="25D07C"/>
                </a:solidFill>
                <a:latin typeface="Arial"/>
              </a:rPr>
              <a:t>ENDOR LABS: $950K TO $1.05M</a:t>
            </a:r>
          </a:p>
        </p:txBody>
      </p:sp>
      <p:sp>
        <p:nvSpPr>
          <p:cNvPr id="16" name="TextBox 15"/>
          <p:cNvSpPr txBox="1"/>
          <p:nvPr/>
        </p:nvSpPr>
        <p:spPr>
          <a:xfrm>
            <a:off x="6941667" y="2633472"/>
            <a:ext cx="4244187" cy="868680"/>
          </a:xfrm>
          <a:prstGeom prst="rect">
            <a:avLst/>
          </a:prstGeom>
          <a:noFill/>
        </p:spPr>
        <p:txBody>
          <a:bodyPr wrap="square" anchor="t" lIns="0" rIns="0" tIns="0" bIns="0">
            <a:spAutoFit/>
          </a:bodyPr>
          <a:lstStyle/>
          <a:p>
            <a:pPr algn="l">
              <a:lnSpc>
                <a:spcPct val="120000"/>
              </a:lnSpc>
            </a:pPr>
            <a:r>
              <a:rPr sz="1450" b="1" i="0">
                <a:solidFill>
                  <a:srgbClr val="25D07C"/>
                </a:solidFill>
                <a:latin typeface="Arial"/>
              </a:rPr>
              <a:t>Everything the split stack does</a:t>
            </a:r>
          </a:p>
          <a:p>
            <a:pPr algn="l">
              <a:lnSpc>
                <a:spcPct val="120000"/>
              </a:lnSpc>
            </a:pPr>
            <a:r>
              <a:rPr sz="1300" b="0" i="0">
                <a:solidFill>
                  <a:srgbClr val="FFFFFF"/>
                </a:solidFill>
                <a:latin typeface="Arial"/>
              </a:rPr>
              <a:t>One policy engine across it</a:t>
            </a:r>
          </a:p>
        </p:txBody>
      </p:sp>
      <p:sp>
        <p:nvSpPr>
          <p:cNvPr id="17" name="4-Point Star 16"/>
          <p:cNvSpPr/>
          <p:nvPr/>
        </p:nvSpPr>
        <p:spPr>
          <a:xfrm>
            <a:off x="6667347" y="267004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1667" y="3502152"/>
            <a:ext cx="4244187" cy="868680"/>
          </a:xfrm>
          <a:prstGeom prst="rect">
            <a:avLst/>
          </a:prstGeom>
          <a:noFill/>
        </p:spPr>
        <p:txBody>
          <a:bodyPr wrap="square" anchor="t" lIns="0" rIns="0" tIns="0" bIns="0">
            <a:spAutoFit/>
          </a:bodyPr>
          <a:lstStyle/>
          <a:p>
            <a:pPr algn="l">
              <a:lnSpc>
                <a:spcPct val="120000"/>
              </a:lnSpc>
            </a:pPr>
            <a:r>
              <a:rPr sz="1450" b="1" i="0">
                <a:solidFill>
                  <a:srgbClr val="25D07C"/>
                </a:solidFill>
                <a:latin typeface="Arial"/>
              </a:rPr>
              <a:t>Plus AI SAST, reachability, validation</a:t>
            </a:r>
          </a:p>
          <a:p>
            <a:pPr algn="l">
              <a:lnSpc>
                <a:spcPct val="120000"/>
              </a:lnSpc>
            </a:pPr>
            <a:r>
              <a:rPr sz="1300" b="0" i="0">
                <a:solidFill>
                  <a:srgbClr val="FFFFFF"/>
                </a:solidFill>
                <a:latin typeface="Arial"/>
              </a:rPr>
              <a:t>Sold by neither vendor</a:t>
            </a:r>
          </a:p>
        </p:txBody>
      </p:sp>
      <p:sp>
        <p:nvSpPr>
          <p:cNvPr id="19" name="4-Point Star 18"/>
          <p:cNvSpPr/>
          <p:nvPr/>
        </p:nvSpPr>
        <p:spPr>
          <a:xfrm>
            <a:off x="6667347" y="353872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1667" y="4370832"/>
            <a:ext cx="4244187" cy="868680"/>
          </a:xfrm>
          <a:prstGeom prst="rect">
            <a:avLst/>
          </a:prstGeom>
          <a:noFill/>
        </p:spPr>
        <p:txBody>
          <a:bodyPr wrap="square" anchor="t" lIns="0" rIns="0" tIns="0" bIns="0">
            <a:spAutoFit/>
          </a:bodyPr>
          <a:lstStyle/>
          <a:p>
            <a:pPr algn="l">
              <a:lnSpc>
                <a:spcPct val="120000"/>
              </a:lnSpc>
            </a:pPr>
            <a:r>
              <a:rPr sz="1450" b="1" i="0">
                <a:solidFill>
                  <a:srgbClr val="25D07C"/>
                </a:solidFill>
                <a:latin typeface="Arial"/>
              </a:rPr>
              <a:t>Five line items retired</a:t>
            </a:r>
          </a:p>
          <a:p>
            <a:pPr algn="l">
              <a:lnSpc>
                <a:spcPct val="120000"/>
              </a:lnSpc>
            </a:pPr>
            <a:r>
              <a:rPr sz="1300" b="0" i="0">
                <a:solidFill>
                  <a:srgbClr val="FFFFFF"/>
                </a:solidFill>
                <a:latin typeface="Arial"/>
              </a:rPr>
              <a:t>One number for finance</a:t>
            </a:r>
          </a:p>
        </p:txBody>
      </p:sp>
      <p:sp>
        <p:nvSpPr>
          <p:cNvPr id="21" name="4-Point Star 20"/>
          <p:cNvSpPr/>
          <p:nvPr/>
        </p:nvSpPr>
        <p:spPr>
          <a:xfrm>
            <a:off x="6667347" y="4407408"/>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endor-mark.png"/>
          <p:cNvPicPr>
            <a:picLocks noChangeAspect="1"/>
          </p:cNvPicPr>
          <p:nvPr/>
        </p:nvPicPr>
        <p:blipFill>
          <a:blip r:embed="rId2"/>
          <a:stretch>
            <a:fillRect/>
          </a:stretch>
        </p:blipFill>
        <p:spPr>
          <a:xfrm>
            <a:off x="256032" y="6510528"/>
            <a:ext cx="123637" cy="137160"/>
          </a:xfrm>
          <a:prstGeom prst="rect">
            <a:avLst/>
          </a:prstGeom>
        </p:spPr>
      </p:pic>
      <p:sp>
        <p:nvSpPr>
          <p:cNvPr id="23" name="TextBox 22"/>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16</a:t>
            </a:r>
          </a:p>
        </p:txBody>
      </p:sp>
      <p:sp>
        <p:nvSpPr>
          <p:cNvPr id="24" name="TextBox 23"/>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glow-sof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1188720"/>
            <a:ext cx="10820095" cy="292608"/>
          </a:xfrm>
          <a:prstGeom prst="rect">
            <a:avLst/>
          </a:prstGeom>
          <a:noFill/>
        </p:spPr>
        <p:txBody>
          <a:bodyPr wrap="square" anchor="t" lIns="0" rIns="0" tIns="0" bIns="0">
            <a:spAutoFit/>
          </a:bodyPr>
          <a:lstStyle/>
          <a:p>
            <a:pPr algn="ctr"/>
            <a:r>
              <a:rPr sz="1400" b="1" i="0" spc="220">
                <a:solidFill>
                  <a:srgbClr val="25D07C"/>
                </a:solidFill>
                <a:latin typeface="Arial"/>
              </a:rPr>
              <a:t>THE WHOLE DIFFERENCE</a:t>
            </a:r>
          </a:p>
        </p:txBody>
      </p:sp>
      <p:sp>
        <p:nvSpPr>
          <p:cNvPr id="4" name="TextBox 3"/>
          <p:cNvSpPr txBox="1"/>
          <p:nvPr/>
        </p:nvSpPr>
        <p:spPr>
          <a:xfrm>
            <a:off x="685800" y="1691640"/>
            <a:ext cx="10820095" cy="2194560"/>
          </a:xfrm>
          <a:prstGeom prst="rect">
            <a:avLst/>
          </a:prstGeom>
          <a:noFill/>
        </p:spPr>
        <p:txBody>
          <a:bodyPr wrap="square" anchor="ctr" lIns="0" rIns="0" tIns="0" bIns="0">
            <a:spAutoFit/>
          </a:bodyPr>
          <a:lstStyle/>
          <a:p>
            <a:pPr algn="ctr"/>
            <a:r>
              <a:rPr sz="14000" b="1" i="0">
                <a:solidFill>
                  <a:srgbClr val="FFFFFF"/>
                </a:solidFill>
                <a:latin typeface="Arial"/>
              </a:rPr>
              <a:t>&lt;$10</a:t>
            </a:r>
          </a:p>
        </p:txBody>
      </p:sp>
      <p:sp>
        <p:nvSpPr>
          <p:cNvPr id="5" name="Oval 4"/>
          <p:cNvSpPr/>
          <p:nvPr/>
        </p:nvSpPr>
        <p:spPr>
          <a:xfrm rot="21420000">
            <a:off x="3610602" y="1562100"/>
            <a:ext cx="4970490" cy="2453640"/>
          </a:xfrm>
          <a:prstGeom prst="ellipse">
            <a:avLst/>
          </a:prstGeom>
          <a:noFill/>
          <a:ln w="31750">
            <a:solidFill>
              <a:srgbClr val="25D0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224528"/>
            <a:ext cx="8534095" cy="1005840"/>
          </a:xfrm>
          <a:prstGeom prst="rect">
            <a:avLst/>
          </a:prstGeom>
          <a:noFill/>
        </p:spPr>
        <p:txBody>
          <a:bodyPr wrap="square" anchor="t" lIns="0" rIns="0" tIns="0" bIns="0">
            <a:spAutoFit/>
          </a:bodyPr>
          <a:lstStyle/>
          <a:p>
            <a:pPr algn="ctr">
              <a:lnSpc>
                <a:spcPct val="120000"/>
              </a:lnSpc>
            </a:pPr>
            <a:r>
              <a:rPr sz="2200" b="1" i="0">
                <a:solidFill>
                  <a:srgbClr val="FFFFFF"/>
                </a:solidFill>
                <a:latin typeface="Arial"/>
              </a:rPr>
              <a:t>per developer per month between the two paths</a:t>
            </a:r>
          </a:p>
        </p:txBody>
      </p:sp>
      <p:sp>
        <p:nvSpPr>
          <p:cNvPr id="7" name="TextBox 6"/>
          <p:cNvSpPr txBox="1"/>
          <p:nvPr/>
        </p:nvSpPr>
        <p:spPr>
          <a:xfrm>
            <a:off x="685800" y="5852160"/>
            <a:ext cx="10820095" cy="320040"/>
          </a:xfrm>
          <a:prstGeom prst="rect">
            <a:avLst/>
          </a:prstGeom>
          <a:noFill/>
        </p:spPr>
        <p:txBody>
          <a:bodyPr wrap="square" anchor="t" lIns="0" rIns="0" tIns="0" bIns="0">
            <a:spAutoFit/>
          </a:bodyPr>
          <a:lstStyle/>
          <a:p>
            <a:pPr algn="ctr"/>
            <a:r>
              <a:rPr sz="1100" b="0" i="0">
                <a:solidFill>
                  <a:srgbClr val="9E9E9E"/>
                </a:solidFill>
                <a:latin typeface="Arial"/>
              </a:rPr>
              <a:t>Gap of $228K to $328K a year across 3,000 covered seats, from figures shared September 1</a:t>
            </a:r>
          </a:p>
        </p:txBody>
      </p:sp>
      <p:pic>
        <p:nvPicPr>
          <p:cNvPr id="8" name="Picture 7" descr="endor-mark.png"/>
          <p:cNvPicPr>
            <a:picLocks noChangeAspect="1"/>
          </p:cNvPicPr>
          <p:nvPr/>
        </p:nvPicPr>
        <p:blipFill>
          <a:blip r:embed="rId3"/>
          <a:stretch>
            <a:fillRect/>
          </a:stretch>
        </p:blipFill>
        <p:spPr>
          <a:xfrm>
            <a:off x="256032" y="6510528"/>
            <a:ext cx="123637" cy="137160"/>
          </a:xfrm>
          <a:prstGeom prst="rect">
            <a:avLst/>
          </a:prstGeom>
        </p:spPr>
      </p:pic>
      <p:sp>
        <p:nvSpPr>
          <p:cNvPr id="9" name="TextBox 8"/>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17</a:t>
            </a:r>
          </a:p>
        </p:txBody>
      </p:sp>
      <p:sp>
        <p:nvSpPr>
          <p:cNvPr id="10" name="TextBox 9"/>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THE PATH</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De-risked by design</a:t>
            </a:r>
          </a:p>
        </p:txBody>
      </p:sp>
      <p:sp>
        <p:nvSpPr>
          <p:cNvPr id="4" name="Rectangle 3"/>
          <p:cNvSpPr/>
          <p:nvPr/>
        </p:nvSpPr>
        <p:spPr>
          <a:xfrm>
            <a:off x="685800" y="2377440"/>
            <a:ext cx="10820095" cy="1778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4-Point Star 4"/>
          <p:cNvSpPr/>
          <p:nvPr/>
        </p:nvSpPr>
        <p:spPr>
          <a:xfrm>
            <a:off x="667512" y="2276856"/>
            <a:ext cx="201168" cy="201168"/>
          </a:xfrm>
          <a:prstGeom prst="star4">
            <a:avLst/>
          </a:prstGeom>
          <a:solidFill>
            <a:srgbClr val="08F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743200"/>
            <a:ext cx="2464993" cy="292608"/>
          </a:xfrm>
          <a:prstGeom prst="rect">
            <a:avLst/>
          </a:prstGeom>
          <a:noFill/>
        </p:spPr>
        <p:txBody>
          <a:bodyPr wrap="square" anchor="t" lIns="0" rIns="0" tIns="0" bIns="0">
            <a:spAutoFit/>
          </a:bodyPr>
          <a:lstStyle/>
          <a:p>
            <a:pPr algn="l"/>
            <a:r>
              <a:rPr sz="1150" b="1" i="0" spc="220">
                <a:solidFill>
                  <a:srgbClr val="25D07C"/>
                </a:solidFill>
                <a:latin typeface="Arial"/>
              </a:rPr>
              <a:t>SEPTEMBER 8</a:t>
            </a:r>
          </a:p>
        </p:txBody>
      </p:sp>
      <p:sp>
        <p:nvSpPr>
          <p:cNvPr id="7" name="TextBox 6"/>
          <p:cNvSpPr txBox="1"/>
          <p:nvPr/>
        </p:nvSpPr>
        <p:spPr>
          <a:xfrm>
            <a:off x="685800" y="3127248"/>
            <a:ext cx="2464993" cy="777240"/>
          </a:xfrm>
          <a:prstGeom prst="rect">
            <a:avLst/>
          </a:prstGeom>
          <a:noFill/>
        </p:spPr>
        <p:txBody>
          <a:bodyPr wrap="square" anchor="t" lIns="0" rIns="0" tIns="0" bIns="0">
            <a:spAutoFit/>
          </a:bodyPr>
          <a:lstStyle/>
          <a:p>
            <a:pPr algn="l">
              <a:lnSpc>
                <a:spcPct val="110000"/>
              </a:lnSpc>
            </a:pPr>
            <a:r>
              <a:rPr sz="1850" b="1" i="0">
                <a:solidFill>
                  <a:srgbClr val="FFFFFF"/>
                </a:solidFill>
                <a:latin typeface="Arial"/>
              </a:rPr>
              <a:t>Finance hears the ask</a:t>
            </a:r>
          </a:p>
        </p:txBody>
      </p:sp>
      <p:sp>
        <p:nvSpPr>
          <p:cNvPr id="8" name="TextBox 7"/>
          <p:cNvSpPr txBox="1"/>
          <p:nvPr/>
        </p:nvSpPr>
        <p:spPr>
          <a:xfrm>
            <a:off x="960120" y="3593591"/>
            <a:ext cx="2190673" cy="731520"/>
          </a:xfrm>
          <a:prstGeom prst="rect">
            <a:avLst/>
          </a:prstGeom>
          <a:noFill/>
        </p:spPr>
        <p:txBody>
          <a:bodyPr wrap="square" anchor="t" lIns="0" rIns="0" tIns="0" bIns="0">
            <a:spAutoFit/>
          </a:bodyPr>
          <a:lstStyle/>
          <a:p>
            <a:pPr algn="l">
              <a:lnSpc>
                <a:spcPct val="120000"/>
              </a:lnSpc>
            </a:pPr>
            <a:r>
              <a:rPr sz="1350" b="0" i="0">
                <a:solidFill>
                  <a:srgbClr val="FFFFFF"/>
                </a:solidFill>
                <a:latin typeface="Arial"/>
              </a:rPr>
              <a:t>2027 budget presented</a:t>
            </a:r>
          </a:p>
        </p:txBody>
      </p:sp>
      <p:sp>
        <p:nvSpPr>
          <p:cNvPr id="9" name="4-Point Star 8"/>
          <p:cNvSpPr/>
          <p:nvPr/>
        </p:nvSpPr>
        <p:spPr>
          <a:xfrm>
            <a:off x="685800" y="3621023"/>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4-Point Star 9"/>
          <p:cNvSpPr/>
          <p:nvPr/>
        </p:nvSpPr>
        <p:spPr>
          <a:xfrm>
            <a:off x="3452545" y="2276856"/>
            <a:ext cx="201168" cy="201168"/>
          </a:xfrm>
          <a:prstGeom prst="star4">
            <a:avLst/>
          </a:prstGeom>
          <a:solidFill>
            <a:srgbClr val="08F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0833" y="2743200"/>
            <a:ext cx="2464993" cy="292608"/>
          </a:xfrm>
          <a:prstGeom prst="rect">
            <a:avLst/>
          </a:prstGeom>
          <a:noFill/>
        </p:spPr>
        <p:txBody>
          <a:bodyPr wrap="square" anchor="t" lIns="0" rIns="0" tIns="0" bIns="0">
            <a:spAutoFit/>
          </a:bodyPr>
          <a:lstStyle/>
          <a:p>
            <a:pPr algn="l"/>
            <a:r>
              <a:rPr sz="1150" b="1" i="0" spc="220">
                <a:solidFill>
                  <a:srgbClr val="25D07C"/>
                </a:solidFill>
                <a:latin typeface="Arial"/>
              </a:rPr>
              <a:t>OCTOBER TO NOVEMBER</a:t>
            </a:r>
          </a:p>
        </p:txBody>
      </p:sp>
      <p:sp>
        <p:nvSpPr>
          <p:cNvPr id="12" name="TextBox 11"/>
          <p:cNvSpPr txBox="1"/>
          <p:nvPr/>
        </p:nvSpPr>
        <p:spPr>
          <a:xfrm>
            <a:off x="3470833" y="3127248"/>
            <a:ext cx="2464993" cy="777240"/>
          </a:xfrm>
          <a:prstGeom prst="rect">
            <a:avLst/>
          </a:prstGeom>
          <a:noFill/>
        </p:spPr>
        <p:txBody>
          <a:bodyPr wrap="square" anchor="t" lIns="0" rIns="0" tIns="0" bIns="0">
            <a:spAutoFit/>
          </a:bodyPr>
          <a:lstStyle/>
          <a:p>
            <a:pPr algn="l">
              <a:lnSpc>
                <a:spcPct val="110000"/>
              </a:lnSpc>
            </a:pPr>
            <a:r>
              <a:rPr sz="1850" b="1" i="0">
                <a:solidFill>
                  <a:srgbClr val="FFFFFF"/>
                </a:solidFill>
                <a:latin typeface="Arial"/>
              </a:rPr>
              <a:t>Contract</a:t>
            </a:r>
          </a:p>
        </p:txBody>
      </p:sp>
      <p:sp>
        <p:nvSpPr>
          <p:cNvPr id="13" name="TextBox 12"/>
          <p:cNvSpPr txBox="1"/>
          <p:nvPr/>
        </p:nvSpPr>
        <p:spPr>
          <a:xfrm>
            <a:off x="3745153" y="3593591"/>
            <a:ext cx="2190673" cy="731520"/>
          </a:xfrm>
          <a:prstGeom prst="rect">
            <a:avLst/>
          </a:prstGeom>
          <a:noFill/>
        </p:spPr>
        <p:txBody>
          <a:bodyPr wrap="square" anchor="t" lIns="0" rIns="0" tIns="0" bIns="0">
            <a:spAutoFit/>
          </a:bodyPr>
          <a:lstStyle/>
          <a:p>
            <a:pPr algn="l">
              <a:lnSpc>
                <a:spcPct val="120000"/>
              </a:lnSpc>
            </a:pPr>
            <a:r>
              <a:rPr sz="1350" b="0" i="0">
                <a:solidFill>
                  <a:srgbClr val="FFFFFF"/>
                </a:solidFill>
                <a:latin typeface="Arial"/>
              </a:rPr>
              <a:t>3 year term</a:t>
            </a:r>
          </a:p>
        </p:txBody>
      </p:sp>
      <p:sp>
        <p:nvSpPr>
          <p:cNvPr id="14" name="4-Point Star 13"/>
          <p:cNvSpPr/>
          <p:nvPr/>
        </p:nvSpPr>
        <p:spPr>
          <a:xfrm>
            <a:off x="3470833" y="3621023"/>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5153" y="4069079"/>
            <a:ext cx="2190673" cy="731520"/>
          </a:xfrm>
          <a:prstGeom prst="rect">
            <a:avLst/>
          </a:prstGeom>
          <a:noFill/>
        </p:spPr>
        <p:txBody>
          <a:bodyPr wrap="square" anchor="t" lIns="0" rIns="0" tIns="0" bIns="0">
            <a:spAutoFit/>
          </a:bodyPr>
          <a:lstStyle/>
          <a:p>
            <a:pPr algn="l">
              <a:lnSpc>
                <a:spcPct val="120000"/>
              </a:lnSpc>
            </a:pPr>
            <a:r>
              <a:rPr sz="1350" b="0" i="0">
                <a:solidFill>
                  <a:srgbClr val="FFFFFF"/>
                </a:solidFill>
                <a:latin typeface="Arial"/>
              </a:rPr>
              <a:t>Azure Marketplace path open</a:t>
            </a:r>
          </a:p>
        </p:txBody>
      </p:sp>
      <p:sp>
        <p:nvSpPr>
          <p:cNvPr id="16" name="4-Point Star 15"/>
          <p:cNvSpPr/>
          <p:nvPr/>
        </p:nvSpPr>
        <p:spPr>
          <a:xfrm>
            <a:off x="3470833" y="4096511"/>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4-Point Star 16"/>
          <p:cNvSpPr/>
          <p:nvPr/>
        </p:nvSpPr>
        <p:spPr>
          <a:xfrm>
            <a:off x="6237579" y="2276856"/>
            <a:ext cx="201168" cy="201168"/>
          </a:xfrm>
          <a:prstGeom prst="star4">
            <a:avLst/>
          </a:prstGeom>
          <a:solidFill>
            <a:srgbClr val="08F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5867" y="2743200"/>
            <a:ext cx="2464993" cy="292608"/>
          </a:xfrm>
          <a:prstGeom prst="rect">
            <a:avLst/>
          </a:prstGeom>
          <a:noFill/>
        </p:spPr>
        <p:txBody>
          <a:bodyPr wrap="square" anchor="t" lIns="0" rIns="0" tIns="0" bIns="0">
            <a:spAutoFit/>
          </a:bodyPr>
          <a:lstStyle/>
          <a:p>
            <a:pPr algn="l"/>
            <a:r>
              <a:rPr sz="1150" b="1" i="0" spc="220">
                <a:solidFill>
                  <a:srgbClr val="25D07C"/>
                </a:solidFill>
                <a:latin typeface="Arial"/>
              </a:rPr>
              <a:t>DECEMBER</a:t>
            </a:r>
          </a:p>
        </p:txBody>
      </p:sp>
      <p:sp>
        <p:nvSpPr>
          <p:cNvPr id="19" name="TextBox 18"/>
          <p:cNvSpPr txBox="1"/>
          <p:nvPr/>
        </p:nvSpPr>
        <p:spPr>
          <a:xfrm>
            <a:off x="6255867" y="3127248"/>
            <a:ext cx="2464993" cy="777240"/>
          </a:xfrm>
          <a:prstGeom prst="rect">
            <a:avLst/>
          </a:prstGeom>
          <a:noFill/>
        </p:spPr>
        <p:txBody>
          <a:bodyPr wrap="square" anchor="t" lIns="0" rIns="0" tIns="0" bIns="0">
            <a:spAutoFit/>
          </a:bodyPr>
          <a:lstStyle/>
          <a:p>
            <a:pPr algn="l">
              <a:lnSpc>
                <a:spcPct val="110000"/>
              </a:lnSpc>
            </a:pPr>
            <a:r>
              <a:rPr sz="1850" b="1" i="0">
                <a:solidFill>
                  <a:srgbClr val="FFFFFF"/>
                </a:solidFill>
                <a:latin typeface="Arial"/>
              </a:rPr>
              <a:t>Secrets baseline</a:t>
            </a:r>
          </a:p>
        </p:txBody>
      </p:sp>
      <p:sp>
        <p:nvSpPr>
          <p:cNvPr id="20" name="TextBox 19"/>
          <p:cNvSpPr txBox="1"/>
          <p:nvPr/>
        </p:nvSpPr>
        <p:spPr>
          <a:xfrm>
            <a:off x="6530187" y="3593591"/>
            <a:ext cx="2190673" cy="731520"/>
          </a:xfrm>
          <a:prstGeom prst="rect">
            <a:avLst/>
          </a:prstGeom>
          <a:noFill/>
        </p:spPr>
        <p:txBody>
          <a:bodyPr wrap="square" anchor="t" lIns="0" rIns="0" tIns="0" bIns="0">
            <a:spAutoFit/>
          </a:bodyPr>
          <a:lstStyle/>
          <a:p>
            <a:pPr algn="l">
              <a:lnSpc>
                <a:spcPct val="120000"/>
              </a:lnSpc>
            </a:pPr>
            <a:r>
              <a:rPr sz="1350" b="0" i="0">
                <a:solidFill>
                  <a:srgbClr val="FFFFFF"/>
                </a:solidFill>
                <a:latin typeface="Arial"/>
              </a:rPr>
              <a:t>Full history audit begins</a:t>
            </a:r>
          </a:p>
        </p:txBody>
      </p:sp>
      <p:sp>
        <p:nvSpPr>
          <p:cNvPr id="21" name="4-Point Star 20"/>
          <p:cNvSpPr/>
          <p:nvPr/>
        </p:nvSpPr>
        <p:spPr>
          <a:xfrm>
            <a:off x="6255867" y="3621023"/>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0187" y="4069079"/>
            <a:ext cx="2190673" cy="731520"/>
          </a:xfrm>
          <a:prstGeom prst="rect">
            <a:avLst/>
          </a:prstGeom>
          <a:noFill/>
        </p:spPr>
        <p:txBody>
          <a:bodyPr wrap="square" anchor="t" lIns="0" rIns="0" tIns="0" bIns="0">
            <a:spAutoFit/>
          </a:bodyPr>
          <a:lstStyle/>
          <a:p>
            <a:pPr algn="l">
              <a:lnSpc>
                <a:spcPct val="120000"/>
              </a:lnSpc>
            </a:pPr>
            <a:r>
              <a:rPr sz="1350" b="0" i="0">
                <a:solidFill>
                  <a:srgbClr val="FFFFFF"/>
                </a:solidFill>
                <a:latin typeface="Arial"/>
              </a:rPr>
              <a:t>Live secrets triaged first</a:t>
            </a:r>
          </a:p>
        </p:txBody>
      </p:sp>
      <p:sp>
        <p:nvSpPr>
          <p:cNvPr id="23" name="4-Point Star 22"/>
          <p:cNvSpPr/>
          <p:nvPr/>
        </p:nvSpPr>
        <p:spPr>
          <a:xfrm>
            <a:off x="6255867" y="4096511"/>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4-Point Star 23"/>
          <p:cNvSpPr/>
          <p:nvPr/>
        </p:nvSpPr>
        <p:spPr>
          <a:xfrm>
            <a:off x="9022613" y="2276856"/>
            <a:ext cx="201168" cy="201168"/>
          </a:xfrm>
          <a:prstGeom prst="star4">
            <a:avLst/>
          </a:prstGeom>
          <a:solidFill>
            <a:srgbClr val="08F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40901" y="2743200"/>
            <a:ext cx="2464993" cy="292608"/>
          </a:xfrm>
          <a:prstGeom prst="rect">
            <a:avLst/>
          </a:prstGeom>
          <a:noFill/>
        </p:spPr>
        <p:txBody>
          <a:bodyPr wrap="square" anchor="t" lIns="0" rIns="0" tIns="0" bIns="0">
            <a:spAutoFit/>
          </a:bodyPr>
          <a:lstStyle/>
          <a:p>
            <a:pPr algn="l"/>
            <a:r>
              <a:rPr sz="1150" b="1" i="0" spc="220">
                <a:solidFill>
                  <a:srgbClr val="25D07C"/>
                </a:solidFill>
                <a:latin typeface="Arial"/>
              </a:rPr>
              <a:t>JANUARY 2027</a:t>
            </a:r>
          </a:p>
        </p:txBody>
      </p:sp>
      <p:sp>
        <p:nvSpPr>
          <p:cNvPr id="26" name="TextBox 25"/>
          <p:cNvSpPr txBox="1"/>
          <p:nvPr/>
        </p:nvSpPr>
        <p:spPr>
          <a:xfrm>
            <a:off x="9040901" y="3127248"/>
            <a:ext cx="2464993" cy="777240"/>
          </a:xfrm>
          <a:prstGeom prst="rect">
            <a:avLst/>
          </a:prstGeom>
          <a:noFill/>
        </p:spPr>
        <p:txBody>
          <a:bodyPr wrap="square" anchor="t" lIns="0" rIns="0" tIns="0" bIns="0">
            <a:spAutoFit/>
          </a:bodyPr>
          <a:lstStyle/>
          <a:p>
            <a:pPr algn="l">
              <a:lnSpc>
                <a:spcPct val="110000"/>
              </a:lnSpc>
            </a:pPr>
            <a:r>
              <a:rPr sz="1850" b="1" i="0">
                <a:solidFill>
                  <a:srgbClr val="FFFFFF"/>
                </a:solidFill>
                <a:latin typeface="Arial"/>
              </a:rPr>
              <a:t>Cycode off</a:t>
            </a:r>
          </a:p>
        </p:txBody>
      </p:sp>
      <p:sp>
        <p:nvSpPr>
          <p:cNvPr id="27" name="TextBox 26"/>
          <p:cNvSpPr txBox="1"/>
          <p:nvPr/>
        </p:nvSpPr>
        <p:spPr>
          <a:xfrm>
            <a:off x="9315221" y="3593591"/>
            <a:ext cx="2190673" cy="731520"/>
          </a:xfrm>
          <a:prstGeom prst="rect">
            <a:avLst/>
          </a:prstGeom>
          <a:noFill/>
        </p:spPr>
        <p:txBody>
          <a:bodyPr wrap="square" anchor="t" lIns="0" rIns="0" tIns="0" bIns="0">
            <a:spAutoFit/>
          </a:bodyPr>
          <a:lstStyle/>
          <a:p>
            <a:pPr algn="l">
              <a:lnSpc>
                <a:spcPct val="120000"/>
              </a:lnSpc>
            </a:pPr>
            <a:r>
              <a:rPr sz="1350" b="0" i="0">
                <a:solidFill>
                  <a:srgbClr val="FFFFFF"/>
                </a:solidFill>
                <a:latin typeface="Arial"/>
              </a:rPr>
              <a:t>Code Pro rolls out in waves</a:t>
            </a:r>
          </a:p>
        </p:txBody>
      </p:sp>
      <p:sp>
        <p:nvSpPr>
          <p:cNvPr id="28" name="4-Point Star 27"/>
          <p:cNvSpPr/>
          <p:nvPr/>
        </p:nvSpPr>
        <p:spPr>
          <a:xfrm>
            <a:off x="9040901" y="3621023"/>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15221" y="4069079"/>
            <a:ext cx="2190673" cy="731520"/>
          </a:xfrm>
          <a:prstGeom prst="rect">
            <a:avLst/>
          </a:prstGeom>
          <a:noFill/>
        </p:spPr>
        <p:txBody>
          <a:bodyPr wrap="square" anchor="t" lIns="0" rIns="0" tIns="0" bIns="0">
            <a:spAutoFit/>
          </a:bodyPr>
          <a:lstStyle/>
          <a:p>
            <a:pPr algn="l">
              <a:lnSpc>
                <a:spcPct val="120000"/>
              </a:lnSpc>
            </a:pPr>
            <a:r>
              <a:rPr sz="1350" b="0" i="0">
                <a:solidFill>
                  <a:srgbClr val="FFFFFF"/>
                </a:solidFill>
                <a:latin typeface="Arial"/>
              </a:rPr>
              <a:t>Checkpoints on the five metrics</a:t>
            </a:r>
          </a:p>
        </p:txBody>
      </p:sp>
      <p:sp>
        <p:nvSpPr>
          <p:cNvPr id="30" name="4-Point Star 29"/>
          <p:cNvSpPr/>
          <p:nvPr/>
        </p:nvSpPr>
        <p:spPr>
          <a:xfrm>
            <a:off x="9040901" y="4096511"/>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endor-mark.png"/>
          <p:cNvPicPr>
            <a:picLocks noChangeAspect="1"/>
          </p:cNvPicPr>
          <p:nvPr/>
        </p:nvPicPr>
        <p:blipFill>
          <a:blip r:embed="rId2"/>
          <a:stretch>
            <a:fillRect/>
          </a:stretch>
        </p:blipFill>
        <p:spPr>
          <a:xfrm>
            <a:off x="256032" y="6510528"/>
            <a:ext cx="123637" cy="137160"/>
          </a:xfrm>
          <a:prstGeom prst="rect">
            <a:avLst/>
          </a:prstGeom>
        </p:spPr>
      </p:pic>
      <p:sp>
        <p:nvSpPr>
          <p:cNvPr id="32" name="TextBox 31"/>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18</a:t>
            </a:r>
          </a:p>
        </p:txBody>
      </p:sp>
      <p:sp>
        <p:nvSpPr>
          <p:cNvPr id="33" name="TextBox 32"/>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glow-strong.pn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10241280" y="-1920240"/>
            <a:ext cx="3108960" cy="3108960"/>
          </a:xfrm>
          <a:prstGeom prst="ellipse">
            <a:avLst/>
          </a:prstGeom>
          <a:noFill/>
          <a:ln w="17780">
            <a:solidFill>
              <a:srgbClr val="0F2E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920240" y="4572000"/>
            <a:ext cx="4023360" cy="4023360"/>
          </a:xfrm>
          <a:prstGeom prst="ellipse">
            <a:avLst/>
          </a:prstGeom>
          <a:noFill/>
          <a:ln w="17780">
            <a:solidFill>
              <a:srgbClr val="0F2E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83080"/>
            <a:ext cx="10820095" cy="1417320"/>
          </a:xfrm>
          <a:prstGeom prst="rect">
            <a:avLst/>
          </a:prstGeom>
          <a:noFill/>
        </p:spPr>
        <p:txBody>
          <a:bodyPr wrap="square" anchor="ctr" lIns="0" rIns="0" tIns="0" bIns="0">
            <a:spAutoFit/>
          </a:bodyPr>
          <a:lstStyle/>
          <a:p>
            <a:pPr algn="ctr">
              <a:lnSpc>
                <a:spcPct val="112000"/>
              </a:lnSpc>
            </a:pPr>
            <a:r>
              <a:rPr sz="4600" b="1" i="0">
                <a:solidFill>
                  <a:srgbClr val="FFFFFF"/>
                </a:solidFill>
                <a:latin typeface="Arial"/>
              </a:rPr>
              <a:t>Five metrics. One option meets all five.</a:t>
            </a:r>
          </a:p>
        </p:txBody>
      </p:sp>
      <p:sp>
        <p:nvSpPr>
          <p:cNvPr id="6" name="Rectangle 5"/>
          <p:cNvSpPr/>
          <p:nvPr/>
        </p:nvSpPr>
        <p:spPr>
          <a:xfrm>
            <a:off x="3992727" y="3337560"/>
            <a:ext cx="4206240" cy="1397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4-Point Star 6"/>
          <p:cNvSpPr/>
          <p:nvPr/>
        </p:nvSpPr>
        <p:spPr>
          <a:xfrm>
            <a:off x="8180679" y="3259836"/>
            <a:ext cx="164592" cy="164592"/>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03062" y="3721608"/>
            <a:ext cx="8602832" cy="548640"/>
          </a:xfrm>
          <a:prstGeom prst="rect">
            <a:avLst/>
          </a:prstGeom>
          <a:noFill/>
        </p:spPr>
        <p:txBody>
          <a:bodyPr wrap="square" anchor="t" lIns="0" rIns="0" tIns="0" bIns="0">
            <a:spAutoFit/>
          </a:bodyPr>
          <a:lstStyle/>
          <a:p>
            <a:pPr algn="l"/>
            <a:r>
              <a:rPr sz="1700" b="1" i="0">
                <a:solidFill>
                  <a:srgbClr val="25D07C"/>
                </a:solidFill>
                <a:latin typeface="Arial"/>
              </a:rPr>
              <a:t>1   </a:t>
            </a:r>
            <a:r>
              <a:rPr sz="1700" b="0" i="0">
                <a:solidFill>
                  <a:srgbClr val="FFFFFF"/>
                </a:solidFill>
                <a:latin typeface="Arial"/>
              </a:rPr>
              <a:t>Approve the 2027 consolidation before the December renewal</a:t>
            </a:r>
          </a:p>
        </p:txBody>
      </p:sp>
      <p:sp>
        <p:nvSpPr>
          <p:cNvPr id="9" name="TextBox 8"/>
          <p:cNvSpPr txBox="1"/>
          <p:nvPr/>
        </p:nvSpPr>
        <p:spPr>
          <a:xfrm>
            <a:off x="2903062" y="4325112"/>
            <a:ext cx="8602832" cy="548640"/>
          </a:xfrm>
          <a:prstGeom prst="rect">
            <a:avLst/>
          </a:prstGeom>
          <a:noFill/>
        </p:spPr>
        <p:txBody>
          <a:bodyPr wrap="square" anchor="t" lIns="0" rIns="0" tIns="0" bIns="0">
            <a:spAutoFit/>
          </a:bodyPr>
          <a:lstStyle/>
          <a:p>
            <a:pPr algn="l"/>
            <a:r>
              <a:rPr sz="1700" b="1" i="0">
                <a:solidFill>
                  <a:srgbClr val="25D07C"/>
                </a:solidFill>
                <a:latin typeface="Arial"/>
              </a:rPr>
              <a:t>2   </a:t>
            </a:r>
            <a:r>
              <a:rPr sz="1700" b="0" i="0">
                <a:solidFill>
                  <a:srgbClr val="FFFFFF"/>
                </a:solidFill>
                <a:latin typeface="Arial"/>
              </a:rPr>
              <a:t>Contract in October or November</a:t>
            </a:r>
          </a:p>
        </p:txBody>
      </p:sp>
      <p:sp>
        <p:nvSpPr>
          <p:cNvPr id="10" name="TextBox 9"/>
          <p:cNvSpPr txBox="1"/>
          <p:nvPr/>
        </p:nvSpPr>
        <p:spPr>
          <a:xfrm>
            <a:off x="2903062" y="4928616"/>
            <a:ext cx="8602832" cy="548640"/>
          </a:xfrm>
          <a:prstGeom prst="rect">
            <a:avLst/>
          </a:prstGeom>
          <a:noFill/>
        </p:spPr>
        <p:txBody>
          <a:bodyPr wrap="square" anchor="t" lIns="0" rIns="0" tIns="0" bIns="0">
            <a:spAutoFit/>
          </a:bodyPr>
          <a:lstStyle/>
          <a:p>
            <a:pPr algn="l"/>
            <a:r>
              <a:rPr sz="1700" b="1" i="0">
                <a:solidFill>
                  <a:srgbClr val="25D07C"/>
                </a:solidFill>
                <a:latin typeface="Arial"/>
              </a:rPr>
              <a:t>3   </a:t>
            </a:r>
            <a:r>
              <a:rPr sz="1700" b="0" i="0">
                <a:solidFill>
                  <a:srgbClr val="FFFFFF"/>
                </a:solidFill>
                <a:latin typeface="Arial"/>
              </a:rPr>
              <a:t>Cycode off in January 2027</a:t>
            </a:r>
          </a:p>
        </p:txBody>
      </p:sp>
      <p:pic>
        <p:nvPicPr>
          <p:cNvPr id="11" name="Picture 10" descr="endor-logo.png"/>
          <p:cNvPicPr>
            <a:picLocks noChangeAspect="1"/>
          </p:cNvPicPr>
          <p:nvPr/>
        </p:nvPicPr>
        <p:blipFill>
          <a:blip r:embed="rId3"/>
          <a:stretch>
            <a:fillRect/>
          </a:stretch>
        </p:blipFill>
        <p:spPr>
          <a:xfrm>
            <a:off x="685800" y="457200"/>
            <a:ext cx="1654698" cy="23774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glow-sof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412480" y="1965960"/>
            <a:ext cx="3108960" cy="2377440"/>
          </a:xfrm>
          <a:prstGeom prst="rect">
            <a:avLst/>
          </a:prstGeom>
          <a:noFill/>
        </p:spPr>
        <p:txBody>
          <a:bodyPr wrap="square" anchor="t" lIns="0" rIns="0" tIns="0" bIns="0">
            <a:spAutoFit/>
          </a:bodyPr>
          <a:lstStyle/>
          <a:p>
            <a:pPr algn="r"/>
            <a:r>
              <a:rPr sz="15000" b="1" i="0">
                <a:solidFill>
                  <a:srgbClr val="113B26"/>
                </a:solidFill>
                <a:latin typeface="Arial"/>
              </a:rPr>
              <a:t>A</a:t>
            </a:r>
          </a:p>
        </p:txBody>
      </p:sp>
      <p:sp>
        <p:nvSpPr>
          <p:cNvPr id="4" name="TextBox 3"/>
          <p:cNvSpPr txBox="1"/>
          <p:nvPr/>
        </p:nvSpPr>
        <p:spPr>
          <a:xfrm>
            <a:off x="685800" y="2468880"/>
            <a:ext cx="7772400" cy="292608"/>
          </a:xfrm>
          <a:prstGeom prst="rect">
            <a:avLst/>
          </a:prstGeom>
          <a:noFill/>
        </p:spPr>
        <p:txBody>
          <a:bodyPr wrap="square" anchor="t" lIns="0" rIns="0" tIns="0" bIns="0">
            <a:spAutoFit/>
          </a:bodyPr>
          <a:lstStyle/>
          <a:p>
            <a:pPr algn="l"/>
            <a:r>
              <a:rPr sz="1400" b="1" i="0" spc="220">
                <a:solidFill>
                  <a:srgbClr val="25D07C"/>
                </a:solidFill>
                <a:latin typeface="Arial"/>
              </a:rPr>
              <a:t>APPENDIX</a:t>
            </a:r>
          </a:p>
        </p:txBody>
      </p:sp>
      <p:sp>
        <p:nvSpPr>
          <p:cNvPr id="5" name="TextBox 4"/>
          <p:cNvSpPr txBox="1"/>
          <p:nvPr/>
        </p:nvSpPr>
        <p:spPr>
          <a:xfrm>
            <a:off x="685800" y="2852928"/>
            <a:ext cx="8595360" cy="1737360"/>
          </a:xfrm>
          <a:prstGeom prst="rect">
            <a:avLst/>
          </a:prstGeom>
          <a:noFill/>
        </p:spPr>
        <p:txBody>
          <a:bodyPr wrap="square" anchor="t" lIns="0" rIns="0" tIns="0" bIns="0">
            <a:spAutoFit/>
          </a:bodyPr>
          <a:lstStyle/>
          <a:p>
            <a:pPr algn="l">
              <a:lnSpc>
                <a:spcPct val="105000"/>
              </a:lnSpc>
            </a:pPr>
            <a:r>
              <a:rPr sz="4400" b="1" i="0">
                <a:solidFill>
                  <a:srgbClr val="FFFFFF"/>
                </a:solidFill>
                <a:latin typeface="Arial"/>
              </a:rPr>
              <a:t>Backup</a:t>
            </a:r>
          </a:p>
        </p:txBody>
      </p:sp>
      <p:sp>
        <p:nvSpPr>
          <p:cNvPr id="6" name="TextBox 5"/>
          <p:cNvSpPr txBox="1"/>
          <p:nvPr/>
        </p:nvSpPr>
        <p:spPr>
          <a:xfrm>
            <a:off x="685800" y="4224528"/>
            <a:ext cx="8229600" cy="914400"/>
          </a:xfrm>
          <a:prstGeom prst="rect">
            <a:avLst/>
          </a:prstGeom>
          <a:noFill/>
        </p:spPr>
        <p:txBody>
          <a:bodyPr wrap="square" anchor="t" lIns="0" rIns="0" tIns="0" bIns="0">
            <a:spAutoFit/>
          </a:bodyPr>
          <a:lstStyle/>
          <a:p>
            <a:pPr algn="l">
              <a:lnSpc>
                <a:spcPct val="130000"/>
              </a:lnSpc>
            </a:pPr>
            <a:r>
              <a:rPr sz="1700" b="0" i="0">
                <a:solidFill>
                  <a:srgbClr val="FFFFFF"/>
                </a:solidFill>
                <a:latin typeface="Arial"/>
              </a:rPr>
              <a:t>Detail for the follow up questions.</a:t>
            </a:r>
          </a:p>
        </p:txBody>
      </p:sp>
      <p:pic>
        <p:nvPicPr>
          <p:cNvPr id="7" name="Picture 6" descr="endor-mark.png"/>
          <p:cNvPicPr>
            <a:picLocks noChangeAspect="1"/>
          </p:cNvPicPr>
          <p:nvPr/>
        </p:nvPicPr>
        <p:blipFill>
          <a:blip r:embed="rId3"/>
          <a:stretch>
            <a:fillRect/>
          </a:stretch>
        </p:blipFill>
        <p:spPr>
          <a:xfrm>
            <a:off x="256032" y="6510528"/>
            <a:ext cx="123637" cy="137160"/>
          </a:xfrm>
          <a:prstGeom prst="rect">
            <a:avLst/>
          </a:prstGeom>
        </p:spPr>
      </p:pic>
      <p:sp>
        <p:nvSpPr>
          <p:cNvPr id="8" name="TextBox 7"/>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20</a:t>
            </a:r>
          </a:p>
        </p:txBody>
      </p:sp>
      <p:sp>
        <p:nvSpPr>
          <p:cNvPr id="9" name="TextBox 8"/>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APPENDIX</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Coverage where Unity lives</a:t>
            </a:r>
          </a:p>
        </p:txBody>
      </p:sp>
      <p:graphicFrame>
        <p:nvGraphicFramePr>
          <p:cNvPr id="4" name="Table 3"/>
          <p:cNvGraphicFramePr>
            <a:graphicFrameLocks noGrp="1"/>
          </p:cNvGraphicFramePr>
          <p:nvPr/>
        </p:nvGraphicFramePr>
        <p:xfrm>
          <a:off x="685800" y="1737360"/>
          <a:ext cx="10817352" cy="4526280"/>
        </p:xfrm>
        <a:graphic>
          <a:graphicData uri="http://schemas.openxmlformats.org/drawingml/2006/table">
            <a:tbl>
              <a:tblPr>
                <a:tableStyleId>{5C22544A-7EE6-4342-B048-85BDC9FD1C3A}</a:tableStyleId>
              </a:tblPr>
              <a:tblGrid>
                <a:gridCol w="2834640"/>
                <a:gridCol w="3986784"/>
                <a:gridCol w="3995928"/>
              </a:tblGrid>
              <a:tr h="754380">
                <a:tc>
                  <a:txBody>
                    <a:bodyPr wrap="square"/>
                    <a:lstStyle/>
                    <a:p>
                      <a:pPr algn="l">
                        <a:lnSpc>
                          <a:spcPct val="115000"/>
                        </a:lnSpc>
                      </a:pPr>
                      <a:r>
                        <a:rPr sz="1300" b="1" i="0">
                          <a:solidFill>
                            <a:srgbClr val="25D07C"/>
                          </a:solidFill>
                          <a:latin typeface="Arial"/>
                        </a:rPr>
                        <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ctr">
                        <a:lnSpc>
                          <a:spcPct val="115000"/>
                        </a:lnSpc>
                      </a:pPr>
                      <a:r>
                        <a:rPr sz="1450" b="1" i="0">
                          <a:solidFill>
                            <a:srgbClr val="FFFFFF"/>
                          </a:solidFill>
                          <a:latin typeface="Arial"/>
                        </a:rPr>
                        <a:t>Cycode</a:t>
                      </a:r>
                    </a:p>
                  </a:txBody>
                  <a:tcPr marL="128016" marR="128016" marT="64008" marB="64008" anchor="ctr">
                    <a:solidFill>
                      <a:srgbClr val="43484D"/>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ctr">
                        <a:lnSpc>
                          <a:spcPct val="115000"/>
                        </a:lnSpc>
                      </a:pPr>
                      <a:r>
                        <a:rPr sz="1450" b="1" i="0">
                          <a:solidFill>
                            <a:srgbClr val="04160C"/>
                          </a:solidFill>
                          <a:latin typeface="Arial"/>
                        </a:rPr>
                        <a:t>Endor Labs</a:t>
                      </a:r>
                    </a:p>
                  </a:txBody>
                  <a:tcPr marL="128016" marR="128016" marT="64008" marB="64008" anchor="ctr">
                    <a:solidFill>
                      <a:srgbClr val="25D07C"/>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r h="754380">
                <a:tc>
                  <a:txBody>
                    <a:bodyPr wrap="square"/>
                    <a:lstStyle/>
                    <a:p>
                      <a:pPr algn="l">
                        <a:lnSpc>
                          <a:spcPct val="115000"/>
                        </a:lnSpc>
                      </a:pPr>
                      <a:r>
                        <a:rPr sz="1350" b="1" i="0">
                          <a:solidFill>
                            <a:srgbClr val="25D07C"/>
                          </a:solidFill>
                          <a:latin typeface="Arial"/>
                        </a:rPr>
                        <a:t>C and C++</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E05252"/>
                          </a:solidFill>
                          <a:latin typeface="Arial"/>
                        </a:rPr>
                        <a:t>✗  </a:t>
                      </a:r>
                      <a:r>
                        <a:rPr sz="1250" b="0" i="0">
                          <a:solidFill>
                            <a:srgbClr val="E2E2E2"/>
                          </a:solidFill>
                          <a:latin typeface="Arial"/>
                        </a:rPr>
                        <a:t>No SCA support documented.</a:t>
                      </a:r>
                    </a:p>
                  </a:txBody>
                  <a:tcPr marL="128016" marR="128016" marT="64008" marB="64008" anchor="ctr">
                    <a:solidFill>
                      <a:srgbClr val="101010"/>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08F078"/>
                          </a:solidFill>
                          <a:latin typeface="Arial"/>
                        </a:rPr>
                        <a:t>✓  </a:t>
                      </a:r>
                      <a:r>
                        <a:rPr sz="1250" b="0" i="0">
                          <a:solidFill>
                            <a:srgbClr val="F0F6F1"/>
                          </a:solidFill>
                          <a:latin typeface="Arial"/>
                        </a:rPr>
                        <a:t>Reachability, no manifests needed.</a:t>
                      </a:r>
                    </a:p>
                  </a:txBody>
                  <a:tcPr marL="128016" marR="128016" marT="64008" marB="64008" anchor="ctr">
                    <a:solidFill>
                      <a:srgbClr val="0D2013"/>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r h="754380">
                <a:tc>
                  <a:txBody>
                    <a:bodyPr wrap="square"/>
                    <a:lstStyle/>
                    <a:p>
                      <a:pPr algn="l">
                        <a:lnSpc>
                          <a:spcPct val="115000"/>
                        </a:lnSpc>
                      </a:pPr>
                      <a:r>
                        <a:rPr sz="1350" b="1" i="0">
                          <a:solidFill>
                            <a:srgbClr val="25D07C"/>
                          </a:solidFill>
                          <a:latin typeface="Arial"/>
                        </a:rPr>
                        <a:t>C#</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E0A552"/>
                          </a:solidFill>
                          <a:latin typeface="Arial"/>
                        </a:rPr>
                        <a:t>△  </a:t>
                      </a:r>
                      <a:r>
                        <a:rPr sz="1250" b="0" i="0">
                          <a:solidFill>
                            <a:srgbClr val="E2E2E2"/>
                          </a:solidFill>
                          <a:latin typeface="Arial"/>
                        </a:rPr>
                        <a:t>Covered where manifest files exist.</a:t>
                      </a:r>
                    </a:p>
                  </a:txBody>
                  <a:tcPr marL="128016" marR="128016" marT="64008" marB="64008" anchor="ctr">
                    <a:solidFill>
                      <a:srgbClr val="101010"/>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08F078"/>
                          </a:solidFill>
                          <a:latin typeface="Arial"/>
                        </a:rPr>
                        <a:t>✓  </a:t>
                      </a:r>
                      <a:r>
                        <a:rPr sz="1250" b="0" i="0">
                          <a:solidFill>
                            <a:srgbClr val="F0F6F1"/>
                          </a:solidFill>
                          <a:latin typeface="Arial"/>
                        </a:rPr>
                        <a:t>Built for the Engine.</a:t>
                      </a:r>
                    </a:p>
                  </a:txBody>
                  <a:tcPr marL="128016" marR="128016" marT="64008" marB="64008" anchor="ctr">
                    <a:solidFill>
                      <a:srgbClr val="0D2013"/>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r h="754380">
                <a:tc>
                  <a:txBody>
                    <a:bodyPr wrap="square"/>
                    <a:lstStyle/>
                    <a:p>
                      <a:pPr algn="l">
                        <a:lnSpc>
                          <a:spcPct val="115000"/>
                        </a:lnSpc>
                      </a:pPr>
                      <a:r>
                        <a:rPr sz="1350" b="1" i="0">
                          <a:solidFill>
                            <a:srgbClr val="25D07C"/>
                          </a:solidFill>
                          <a:latin typeface="Arial"/>
                        </a:rPr>
                        <a:t>Monorepos and Bazel</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E05252"/>
                          </a:solidFill>
                          <a:latin typeface="Arial"/>
                        </a:rPr>
                        <a:t>✗  </a:t>
                      </a:r>
                      <a:r>
                        <a:rPr sz="1250" b="0" i="0">
                          <a:solidFill>
                            <a:srgbClr val="E2E2E2"/>
                          </a:solidFill>
                          <a:latin typeface="Arial"/>
                        </a:rPr>
                        <a:t>No documented support.</a:t>
                      </a:r>
                    </a:p>
                  </a:txBody>
                  <a:tcPr marL="128016" marR="128016" marT="64008" marB="64008" anchor="ctr">
                    <a:solidFill>
                      <a:srgbClr val="101010"/>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08F078"/>
                          </a:solidFill>
                          <a:latin typeface="Arial"/>
                        </a:rPr>
                        <a:t>✓  </a:t>
                      </a:r>
                      <a:r>
                        <a:rPr sz="1250" b="0" i="0">
                          <a:solidFill>
                            <a:srgbClr val="F0F6F1"/>
                          </a:solidFill>
                          <a:latin typeface="Arial"/>
                        </a:rPr>
                        <a:t>Proven on the 25GB Engine.</a:t>
                      </a:r>
                    </a:p>
                  </a:txBody>
                  <a:tcPr marL="128016" marR="128016" marT="64008" marB="64008" anchor="ctr">
                    <a:solidFill>
                      <a:srgbClr val="0D2013"/>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r h="754380">
                <a:tc>
                  <a:txBody>
                    <a:bodyPr wrap="square"/>
                    <a:lstStyle/>
                    <a:p>
                      <a:pPr algn="l">
                        <a:lnSpc>
                          <a:spcPct val="115000"/>
                        </a:lnSpc>
                      </a:pPr>
                      <a:r>
                        <a:rPr sz="1350" b="1" i="0">
                          <a:solidFill>
                            <a:srgbClr val="25D07C"/>
                          </a:solidFill>
                          <a:latin typeface="Arial"/>
                        </a:rPr>
                        <a:t>SAST languages</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E0A552"/>
                          </a:solidFill>
                          <a:latin typeface="Arial"/>
                        </a:rPr>
                        <a:t>△  </a:t>
                      </a:r>
                      <a:r>
                        <a:rPr sz="1250" b="0" i="0">
                          <a:solidFill>
                            <a:srgbClr val="E2E2E2"/>
                          </a:solidFill>
                          <a:latin typeface="Arial"/>
                        </a:rPr>
                        <a:t>About 10 languages, strongest in Java.</a:t>
                      </a:r>
                    </a:p>
                  </a:txBody>
                  <a:tcPr marL="128016" marR="128016" marT="64008" marB="64008" anchor="ctr">
                    <a:solidFill>
                      <a:srgbClr val="101010"/>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08F078"/>
                          </a:solidFill>
                          <a:latin typeface="Arial"/>
                        </a:rPr>
                        <a:t>✓  </a:t>
                      </a:r>
                      <a:r>
                        <a:rPr sz="1250" b="0" i="0">
                          <a:solidFill>
                            <a:srgbClr val="F0F6F1"/>
                          </a:solidFill>
                          <a:latin typeface="Arial"/>
                        </a:rPr>
                        <a:t>41 languages, auditable rules.</a:t>
                      </a:r>
                    </a:p>
                  </a:txBody>
                  <a:tcPr marL="128016" marR="128016" marT="64008" marB="64008" anchor="ctr">
                    <a:solidFill>
                      <a:srgbClr val="0D2013"/>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r h="754380">
                <a:tc>
                  <a:txBody>
                    <a:bodyPr wrap="square"/>
                    <a:lstStyle/>
                    <a:p>
                      <a:pPr algn="l">
                        <a:lnSpc>
                          <a:spcPct val="115000"/>
                        </a:lnSpc>
                      </a:pPr>
                      <a:r>
                        <a:rPr sz="1350" b="1" i="0">
                          <a:solidFill>
                            <a:srgbClr val="25D07C"/>
                          </a:solidFill>
                          <a:latin typeface="Arial"/>
                        </a:rPr>
                        <a:t>Whole repo PR scans</a:t>
                      </a:r>
                    </a:p>
                  </a:txBody>
                  <a:tcPr marL="128016" marR="128016" marT="64008" marB="64008" anchor="ctr">
                    <a:solidFill>
                      <a:srgbClr val="0C1A11"/>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E0A552"/>
                          </a:solidFill>
                          <a:latin typeface="Arial"/>
                        </a:rPr>
                        <a:t>△  </a:t>
                      </a:r>
                      <a:r>
                        <a:rPr sz="1250" b="0" i="0">
                          <a:solidFill>
                            <a:srgbClr val="E2E2E2"/>
                          </a:solidFill>
                          <a:latin typeface="Arial"/>
                        </a:rPr>
                        <a:t>Scans only the files changed.</a:t>
                      </a:r>
                    </a:p>
                  </a:txBody>
                  <a:tcPr marL="128016" marR="128016" marT="64008" marB="64008" anchor="ctr">
                    <a:solidFill>
                      <a:srgbClr val="101010"/>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c>
                  <a:txBody>
                    <a:bodyPr wrap="square"/>
                    <a:lstStyle/>
                    <a:p>
                      <a:pPr algn="l">
                        <a:lnSpc>
                          <a:spcPct val="115000"/>
                        </a:lnSpc>
                      </a:pPr>
                      <a:r>
                        <a:rPr sz="1250" b="1" i="0">
                          <a:solidFill>
                            <a:srgbClr val="08F078"/>
                          </a:solidFill>
                          <a:latin typeface="Arial"/>
                        </a:rPr>
                        <a:t>✓  </a:t>
                      </a:r>
                      <a:r>
                        <a:rPr sz="1250" b="0" i="0">
                          <a:solidFill>
                            <a:srgbClr val="F0F6F1"/>
                          </a:solidFill>
                          <a:latin typeface="Arial"/>
                        </a:rPr>
                        <a:t>Whole repo, can block PRs.</a:t>
                      </a:r>
                    </a:p>
                  </a:txBody>
                  <a:tcPr marL="128016" marR="128016" marT="64008" marB="64008" anchor="ctr">
                    <a:solidFill>
                      <a:srgbClr val="0D2013"/>
                    </a:solidFill>
                    <a:lnL w="9525" cap="flat">
                      <a:solidFill>
                        <a:srgbClr val="1F1F1F"/>
                      </a:solidFill>
                    </a:lnL>
                    <a:lnR w="9525" cap="flat">
                      <a:solidFill>
                        <a:srgbClr val="1F1F1F"/>
                      </a:solidFill>
                    </a:lnR>
                    <a:lnT w="9525" cap="flat">
                      <a:solidFill>
                        <a:srgbClr val="1F1F1F"/>
                      </a:solidFill>
                    </a:lnT>
                    <a:lnB w="9525" cap="flat">
                      <a:solidFill>
                        <a:srgbClr val="1F1F1F"/>
                      </a:solidFill>
                    </a:lnB>
                  </a:tcPr>
                </a:tc>
              </a:tr>
            </a:tbl>
          </a:graphicData>
        </a:graphic>
      </p:graphicFrame>
      <p:pic>
        <p:nvPicPr>
          <p:cNvPr id="5" name="Picture 4" descr="endor-mark.png"/>
          <p:cNvPicPr>
            <a:picLocks noChangeAspect="1"/>
          </p:cNvPicPr>
          <p:nvPr/>
        </p:nvPicPr>
        <p:blipFill>
          <a:blip r:embed="rId2"/>
          <a:stretch>
            <a:fillRect/>
          </a:stretch>
        </p:blipFill>
        <p:spPr>
          <a:xfrm>
            <a:off x="256032" y="6510528"/>
            <a:ext cx="123637" cy="137160"/>
          </a:xfrm>
          <a:prstGeom prst="rect">
            <a:avLst/>
          </a:prstGeom>
        </p:spPr>
      </p:pic>
      <p:sp>
        <p:nvSpPr>
          <p:cNvPr id="6" name="TextBox 5"/>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21</a:t>
            </a:r>
          </a:p>
        </p:txBody>
      </p:sp>
      <p:sp>
        <p:nvSpPr>
          <p:cNvPr id="7" name="TextBox 6"/>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APPENDIX</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Alternatives considered</a:t>
            </a:r>
          </a:p>
        </p:txBody>
      </p:sp>
      <p:sp>
        <p:nvSpPr>
          <p:cNvPr id="4" name="Rectangle 3"/>
          <p:cNvSpPr/>
          <p:nvPr/>
        </p:nvSpPr>
        <p:spPr>
          <a:xfrm>
            <a:off x="685800" y="1691639"/>
            <a:ext cx="10820095" cy="13970"/>
          </a:xfrm>
          <a:prstGeom prst="rect">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011679"/>
            <a:ext cx="3332378" cy="292608"/>
          </a:xfrm>
          <a:prstGeom prst="rect">
            <a:avLst/>
          </a:prstGeom>
          <a:noFill/>
        </p:spPr>
        <p:txBody>
          <a:bodyPr wrap="square" anchor="t" lIns="0" rIns="0" tIns="0" bIns="0">
            <a:spAutoFit/>
          </a:bodyPr>
          <a:lstStyle/>
          <a:p>
            <a:pPr algn="l"/>
            <a:r>
              <a:rPr sz="1150" b="1" i="0" spc="220">
                <a:solidFill>
                  <a:srgbClr val="25D07C"/>
                </a:solidFill>
                <a:latin typeface="Arial"/>
              </a:rPr>
              <a:t>SCENARIO 1</a:t>
            </a:r>
          </a:p>
        </p:txBody>
      </p:sp>
      <p:sp>
        <p:nvSpPr>
          <p:cNvPr id="6" name="TextBox 5"/>
          <p:cNvSpPr txBox="1"/>
          <p:nvPr/>
        </p:nvSpPr>
        <p:spPr>
          <a:xfrm>
            <a:off x="704088" y="2414015"/>
            <a:ext cx="3332378" cy="685800"/>
          </a:xfrm>
          <a:prstGeom prst="rect">
            <a:avLst/>
          </a:prstGeom>
          <a:noFill/>
        </p:spPr>
        <p:txBody>
          <a:bodyPr wrap="square" anchor="t" lIns="0" rIns="0" tIns="0" bIns="0">
            <a:spAutoFit/>
          </a:bodyPr>
          <a:lstStyle/>
          <a:p>
            <a:pPr algn="l">
              <a:lnSpc>
                <a:spcPct val="110000"/>
              </a:lnSpc>
            </a:pPr>
            <a:r>
              <a:rPr sz="1900" b="1" i="0">
                <a:solidFill>
                  <a:srgbClr val="25D07C"/>
                </a:solidFill>
                <a:latin typeface="Arial"/>
              </a:rPr>
              <a:t>Split by codebase</a:t>
            </a:r>
          </a:p>
        </p:txBody>
      </p:sp>
      <p:sp>
        <p:nvSpPr>
          <p:cNvPr id="7" name="TextBox 6"/>
          <p:cNvSpPr txBox="1"/>
          <p:nvPr/>
        </p:nvSpPr>
        <p:spPr>
          <a:xfrm>
            <a:off x="978408" y="2871215"/>
            <a:ext cx="3058058"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Endor Labs on Engine, GitHub elsewhere</a:t>
            </a:r>
          </a:p>
        </p:txBody>
      </p:sp>
      <p:sp>
        <p:nvSpPr>
          <p:cNvPr id="8" name="4-Point Star 7"/>
          <p:cNvSpPr/>
          <p:nvPr/>
        </p:nvSpPr>
        <p:spPr>
          <a:xfrm>
            <a:off x="704088" y="2907791"/>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3621024"/>
            <a:ext cx="3058058"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Two vendors, split visibility</a:t>
            </a:r>
          </a:p>
        </p:txBody>
      </p:sp>
      <p:sp>
        <p:nvSpPr>
          <p:cNvPr id="10" name="4-Point Star 9"/>
          <p:cNvSpPr/>
          <p:nvPr/>
        </p:nvSpPr>
        <p:spPr>
          <a:xfrm>
            <a:off x="704088" y="3657600"/>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6818" y="2011679"/>
            <a:ext cx="3076346" cy="292608"/>
          </a:xfrm>
          <a:prstGeom prst="rect">
            <a:avLst/>
          </a:prstGeom>
          <a:noFill/>
        </p:spPr>
        <p:txBody>
          <a:bodyPr wrap="square" anchor="t" lIns="0" rIns="0" tIns="0" bIns="0">
            <a:spAutoFit/>
          </a:bodyPr>
          <a:lstStyle/>
          <a:p>
            <a:pPr algn="l"/>
            <a:r>
              <a:rPr sz="1150" b="1" i="0" spc="220">
                <a:solidFill>
                  <a:srgbClr val="25D07C"/>
                </a:solidFill>
                <a:latin typeface="Arial"/>
              </a:rPr>
              <a:t>SCENARIO 2</a:t>
            </a:r>
          </a:p>
        </p:txBody>
      </p:sp>
      <p:sp>
        <p:nvSpPr>
          <p:cNvPr id="12" name="TextBox 11"/>
          <p:cNvSpPr txBox="1"/>
          <p:nvPr/>
        </p:nvSpPr>
        <p:spPr>
          <a:xfrm>
            <a:off x="4566818" y="2414015"/>
            <a:ext cx="3076346" cy="685800"/>
          </a:xfrm>
          <a:prstGeom prst="rect">
            <a:avLst/>
          </a:prstGeom>
          <a:noFill/>
        </p:spPr>
        <p:txBody>
          <a:bodyPr wrap="square" anchor="t" lIns="0" rIns="0" tIns="0" bIns="0">
            <a:spAutoFit/>
          </a:bodyPr>
          <a:lstStyle/>
          <a:p>
            <a:pPr algn="l">
              <a:lnSpc>
                <a:spcPct val="110000"/>
              </a:lnSpc>
            </a:pPr>
            <a:r>
              <a:rPr sz="1900" b="1" i="0">
                <a:solidFill>
                  <a:srgbClr val="25D07C"/>
                </a:solidFill>
                <a:latin typeface="Arial"/>
              </a:rPr>
              <a:t>Split by problem</a:t>
            </a:r>
          </a:p>
        </p:txBody>
      </p:sp>
      <p:sp>
        <p:nvSpPr>
          <p:cNvPr id="13" name="TextBox 12"/>
          <p:cNvSpPr txBox="1"/>
          <p:nvPr/>
        </p:nvSpPr>
        <p:spPr>
          <a:xfrm>
            <a:off x="4841138" y="2871215"/>
            <a:ext cx="2802026"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Endor Labs scans, GitHub secrets</a:t>
            </a:r>
          </a:p>
        </p:txBody>
      </p:sp>
      <p:sp>
        <p:nvSpPr>
          <p:cNvPr id="14" name="4-Point Star 13"/>
          <p:cNvSpPr/>
          <p:nvPr/>
        </p:nvSpPr>
        <p:spPr>
          <a:xfrm>
            <a:off x="4566818" y="2907791"/>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1138" y="3337559"/>
            <a:ext cx="2802026"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Secrets sit outside AppSec</a:t>
            </a:r>
          </a:p>
        </p:txBody>
      </p:sp>
      <p:sp>
        <p:nvSpPr>
          <p:cNvPr id="16" name="4-Point Star 15"/>
          <p:cNvSpPr/>
          <p:nvPr/>
        </p:nvSpPr>
        <p:spPr>
          <a:xfrm>
            <a:off x="4566818" y="3374135"/>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3516" y="2011679"/>
            <a:ext cx="3076346" cy="292608"/>
          </a:xfrm>
          <a:prstGeom prst="rect">
            <a:avLst/>
          </a:prstGeom>
          <a:noFill/>
        </p:spPr>
        <p:txBody>
          <a:bodyPr wrap="square" anchor="t" lIns="0" rIns="0" tIns="0" bIns="0">
            <a:spAutoFit/>
          </a:bodyPr>
          <a:lstStyle/>
          <a:p>
            <a:pPr algn="l"/>
            <a:r>
              <a:rPr sz="1150" b="1" i="0" spc="220">
                <a:solidFill>
                  <a:srgbClr val="25D07C"/>
                </a:solidFill>
                <a:latin typeface="Arial"/>
              </a:rPr>
              <a:t>SCENARIO 3: CHOSEN</a:t>
            </a:r>
          </a:p>
        </p:txBody>
      </p:sp>
      <p:sp>
        <p:nvSpPr>
          <p:cNvPr id="18" name="TextBox 17"/>
          <p:cNvSpPr txBox="1"/>
          <p:nvPr/>
        </p:nvSpPr>
        <p:spPr>
          <a:xfrm>
            <a:off x="8173516" y="2414015"/>
            <a:ext cx="3076346" cy="685800"/>
          </a:xfrm>
          <a:prstGeom prst="rect">
            <a:avLst/>
          </a:prstGeom>
          <a:noFill/>
        </p:spPr>
        <p:txBody>
          <a:bodyPr wrap="square" anchor="t" lIns="0" rIns="0" tIns="0" bIns="0">
            <a:spAutoFit/>
          </a:bodyPr>
          <a:lstStyle/>
          <a:p>
            <a:pPr algn="l">
              <a:lnSpc>
                <a:spcPct val="110000"/>
              </a:lnSpc>
            </a:pPr>
            <a:r>
              <a:rPr sz="1900" b="1" i="0">
                <a:solidFill>
                  <a:srgbClr val="25D07C"/>
                </a:solidFill>
                <a:latin typeface="Arial"/>
              </a:rPr>
              <a:t>One platform</a:t>
            </a:r>
          </a:p>
        </p:txBody>
      </p:sp>
      <p:sp>
        <p:nvSpPr>
          <p:cNvPr id="19" name="TextBox 18"/>
          <p:cNvSpPr txBox="1"/>
          <p:nvPr/>
        </p:nvSpPr>
        <p:spPr>
          <a:xfrm>
            <a:off x="8447836" y="2871215"/>
            <a:ext cx="2802026"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Endor Labs for everything</a:t>
            </a:r>
          </a:p>
        </p:txBody>
      </p:sp>
      <p:sp>
        <p:nvSpPr>
          <p:cNvPr id="20" name="4-Point Star 19"/>
          <p:cNvSpPr/>
          <p:nvPr/>
        </p:nvSpPr>
        <p:spPr>
          <a:xfrm>
            <a:off x="8173516" y="2907791"/>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47836" y="3337559"/>
            <a:ext cx="2802026" cy="777240"/>
          </a:xfrm>
          <a:prstGeom prst="rect">
            <a:avLst/>
          </a:prstGeom>
          <a:noFill/>
        </p:spPr>
        <p:txBody>
          <a:bodyPr wrap="square" anchor="t" lIns="0" rIns="0" tIns="0" bIns="0">
            <a:spAutoFit/>
          </a:bodyPr>
          <a:lstStyle/>
          <a:p>
            <a:pPr algn="l">
              <a:lnSpc>
                <a:spcPct val="120000"/>
              </a:lnSpc>
            </a:pPr>
            <a:r>
              <a:rPr sz="1450" b="0" i="0">
                <a:solidFill>
                  <a:srgbClr val="FFFFFF"/>
                </a:solidFill>
                <a:latin typeface="Arial"/>
              </a:rPr>
              <a:t>One policy engine, one number</a:t>
            </a:r>
          </a:p>
        </p:txBody>
      </p:sp>
      <p:sp>
        <p:nvSpPr>
          <p:cNvPr id="22" name="4-Point Star 21"/>
          <p:cNvSpPr/>
          <p:nvPr/>
        </p:nvSpPr>
        <p:spPr>
          <a:xfrm>
            <a:off x="8173516" y="3374135"/>
            <a:ext cx="137160" cy="137160"/>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55338" y="1920239"/>
            <a:ext cx="16459" cy="2377440"/>
          </a:xfrm>
          <a:prstGeom prst="rect">
            <a:avLst/>
          </a:prstGeom>
          <a:gradFill rotWithShape="1">
            <a:gsLst>
              <a:gs pos="0">
                <a:srgbClr val="25D07C"/>
              </a:gs>
              <a:gs pos="100000">
                <a:srgbClr val="8B6CF2"/>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62036" y="1920239"/>
            <a:ext cx="16459" cy="2377440"/>
          </a:xfrm>
          <a:prstGeom prst="rect">
            <a:avLst/>
          </a:prstGeom>
          <a:gradFill rotWithShape="1">
            <a:gsLst>
              <a:gs pos="0">
                <a:srgbClr val="25D07C"/>
              </a:gs>
              <a:gs pos="100000">
                <a:srgbClr val="8B6CF2"/>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70448"/>
            <a:ext cx="10820095" cy="457200"/>
          </a:xfrm>
          <a:prstGeom prst="rect">
            <a:avLst/>
          </a:prstGeom>
          <a:noFill/>
        </p:spPr>
        <p:txBody>
          <a:bodyPr wrap="square" anchor="t" lIns="0" rIns="0" tIns="0" bIns="0">
            <a:spAutoFit/>
          </a:bodyPr>
          <a:lstStyle/>
          <a:p>
            <a:pPr algn="ctr"/>
            <a:r>
              <a:rPr sz="1600" b="1" i="0">
                <a:solidFill>
                  <a:srgbClr val="25D07C"/>
                </a:solidFill>
                <a:latin typeface="Arial"/>
              </a:rPr>
              <a:t>Only scenario three meets all five metrics</a:t>
            </a:r>
          </a:p>
        </p:txBody>
      </p:sp>
      <p:pic>
        <p:nvPicPr>
          <p:cNvPr id="26" name="Picture 25" descr="endor-mark.png"/>
          <p:cNvPicPr>
            <a:picLocks noChangeAspect="1"/>
          </p:cNvPicPr>
          <p:nvPr/>
        </p:nvPicPr>
        <p:blipFill>
          <a:blip r:embed="rId2"/>
          <a:stretch>
            <a:fillRect/>
          </a:stretch>
        </p:blipFill>
        <p:spPr>
          <a:xfrm>
            <a:off x="256032" y="6510528"/>
            <a:ext cx="123637" cy="137160"/>
          </a:xfrm>
          <a:prstGeom prst="rect">
            <a:avLst/>
          </a:prstGeom>
        </p:spPr>
      </p:pic>
      <p:sp>
        <p:nvSpPr>
          <p:cNvPr id="27" name="TextBox 26"/>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22</a:t>
            </a:r>
          </a:p>
        </p:txBody>
      </p:sp>
      <p:sp>
        <p:nvSpPr>
          <p:cNvPr id="28" name="TextBox 27"/>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457200"/>
            <a:ext cx="10820095" cy="292608"/>
          </a:xfrm>
          <a:prstGeom prst="rect">
            <a:avLst/>
          </a:prstGeom>
          <a:noFill/>
        </p:spPr>
        <p:txBody>
          <a:bodyPr wrap="square" anchor="t" lIns="0" rIns="0" tIns="0" bIns="0">
            <a:spAutoFit/>
          </a:bodyPr>
          <a:lstStyle/>
          <a:p>
            <a:pPr algn="ctr"/>
            <a:r>
              <a:rPr sz="1300" b="1" i="0" spc="220">
                <a:solidFill>
                  <a:srgbClr val="25D07C"/>
                </a:solidFill>
                <a:latin typeface="Arial"/>
              </a:rPr>
              <a:t>APPENDIX</a:t>
            </a:r>
          </a:p>
        </p:txBody>
      </p:sp>
      <p:sp>
        <p:nvSpPr>
          <p:cNvPr id="3" name="TextBox 2"/>
          <p:cNvSpPr txBox="1"/>
          <p:nvPr/>
        </p:nvSpPr>
        <p:spPr>
          <a:xfrm>
            <a:off x="685800" y="859536"/>
            <a:ext cx="10820095" cy="1280160"/>
          </a:xfrm>
          <a:prstGeom prst="rect">
            <a:avLst/>
          </a:prstGeom>
          <a:noFill/>
        </p:spPr>
        <p:txBody>
          <a:bodyPr wrap="square" anchor="t" lIns="0" rIns="0" tIns="0" bIns="0">
            <a:spAutoFit/>
          </a:bodyPr>
          <a:lstStyle/>
          <a:p>
            <a:pPr algn="ctr">
              <a:lnSpc>
                <a:spcPct val="105000"/>
              </a:lnSpc>
            </a:pPr>
            <a:r>
              <a:rPr sz="3000" b="1" i="0">
                <a:solidFill>
                  <a:srgbClr val="25D07C"/>
                </a:solidFill>
                <a:latin typeface="Arial"/>
              </a:rPr>
              <a:t>Contract and compliance facts</a:t>
            </a:r>
          </a:p>
        </p:txBody>
      </p:sp>
      <p:sp>
        <p:nvSpPr>
          <p:cNvPr id="4" name="4-Point Star 3"/>
          <p:cNvSpPr/>
          <p:nvPr/>
        </p:nvSpPr>
        <p:spPr>
          <a:xfrm>
            <a:off x="685800" y="2103120"/>
            <a:ext cx="173736" cy="173736"/>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 y="2011680"/>
            <a:ext cx="10399471" cy="914400"/>
          </a:xfrm>
          <a:prstGeom prst="rect">
            <a:avLst/>
          </a:prstGeom>
          <a:noFill/>
        </p:spPr>
        <p:txBody>
          <a:bodyPr wrap="square" anchor="t" lIns="0" rIns="0" tIns="0" bIns="0">
            <a:spAutoFit/>
          </a:bodyPr>
          <a:lstStyle/>
          <a:p>
            <a:pPr algn="l">
              <a:lnSpc>
                <a:spcPct val="115000"/>
              </a:lnSpc>
            </a:pPr>
            <a:r>
              <a:rPr sz="2100" b="0" i="0">
                <a:solidFill>
                  <a:srgbClr val="FFFFFF"/>
                </a:solidFill>
                <a:latin typeface="Arial"/>
              </a:rPr>
              <a:t>AI training opt out on Unity data, in place since 2025</a:t>
            </a:r>
          </a:p>
        </p:txBody>
      </p:sp>
      <p:sp>
        <p:nvSpPr>
          <p:cNvPr id="6" name="4-Point Star 5"/>
          <p:cNvSpPr/>
          <p:nvPr/>
        </p:nvSpPr>
        <p:spPr>
          <a:xfrm>
            <a:off x="685800" y="3017520"/>
            <a:ext cx="173736" cy="173736"/>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926080"/>
            <a:ext cx="10399471" cy="914400"/>
          </a:xfrm>
          <a:prstGeom prst="rect">
            <a:avLst/>
          </a:prstGeom>
          <a:noFill/>
        </p:spPr>
        <p:txBody>
          <a:bodyPr wrap="square" anchor="t" lIns="0" rIns="0" tIns="0" bIns="0">
            <a:spAutoFit/>
          </a:bodyPr>
          <a:lstStyle/>
          <a:p>
            <a:pPr algn="l">
              <a:lnSpc>
                <a:spcPct val="115000"/>
              </a:lnSpc>
            </a:pPr>
            <a:r>
              <a:rPr sz="2100" b="0" i="0">
                <a:solidFill>
                  <a:srgbClr val="FFFFFF"/>
                </a:solidFill>
                <a:latin typeface="Arial"/>
              </a:rPr>
              <a:t>Scanning runs locally in Unity CI today</a:t>
            </a:r>
          </a:p>
        </p:txBody>
      </p:sp>
      <p:sp>
        <p:nvSpPr>
          <p:cNvPr id="8" name="4-Point Star 7"/>
          <p:cNvSpPr/>
          <p:nvPr/>
        </p:nvSpPr>
        <p:spPr>
          <a:xfrm>
            <a:off x="685800" y="3931920"/>
            <a:ext cx="173736" cy="173736"/>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3840480"/>
            <a:ext cx="10399471" cy="914400"/>
          </a:xfrm>
          <a:prstGeom prst="rect">
            <a:avLst/>
          </a:prstGeom>
          <a:noFill/>
        </p:spPr>
        <p:txBody>
          <a:bodyPr wrap="square" anchor="t" lIns="0" rIns="0" tIns="0" bIns="0">
            <a:spAutoFit/>
          </a:bodyPr>
          <a:lstStyle/>
          <a:p>
            <a:pPr algn="l">
              <a:lnSpc>
                <a:spcPct val="115000"/>
              </a:lnSpc>
            </a:pPr>
            <a:r>
              <a:rPr sz="2100" b="0" i="0">
                <a:solidFill>
                  <a:srgbClr val="FFFFFF"/>
                </a:solidFill>
                <a:latin typeface="Arial"/>
              </a:rPr>
              <a:t>Azure Marketplace purchasing is available</a:t>
            </a:r>
          </a:p>
        </p:txBody>
      </p:sp>
      <p:sp>
        <p:nvSpPr>
          <p:cNvPr id="10" name="4-Point Star 9"/>
          <p:cNvSpPr/>
          <p:nvPr/>
        </p:nvSpPr>
        <p:spPr>
          <a:xfrm>
            <a:off x="685800" y="4846320"/>
            <a:ext cx="173736" cy="173736"/>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4754880"/>
            <a:ext cx="10399471" cy="914400"/>
          </a:xfrm>
          <a:prstGeom prst="rect">
            <a:avLst/>
          </a:prstGeom>
          <a:noFill/>
        </p:spPr>
        <p:txBody>
          <a:bodyPr wrap="square" anchor="t" lIns="0" rIns="0" tIns="0" bIns="0">
            <a:spAutoFit/>
          </a:bodyPr>
          <a:lstStyle/>
          <a:p>
            <a:pPr algn="l">
              <a:lnSpc>
                <a:spcPct val="115000"/>
              </a:lnSpc>
            </a:pPr>
            <a:r>
              <a:rPr sz="2100" b="0" i="0">
                <a:solidFill>
                  <a:srgbClr val="FFFFFF"/>
                </a:solidFill>
                <a:latin typeface="Arial"/>
              </a:rPr>
              <a:t>GitHub Enterprise behind VPN works with the CI model today</a:t>
            </a:r>
          </a:p>
        </p:txBody>
      </p:sp>
      <p:sp>
        <p:nvSpPr>
          <p:cNvPr id="12" name="4-Point Star 11"/>
          <p:cNvSpPr/>
          <p:nvPr/>
        </p:nvSpPr>
        <p:spPr>
          <a:xfrm>
            <a:off x="685800" y="5760720"/>
            <a:ext cx="173736" cy="173736"/>
          </a:xfrm>
          <a:prstGeom prst="star4">
            <a:avLst/>
          </a:prstGeom>
          <a:solidFill>
            <a:srgbClr val="25D0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6424" y="5669280"/>
            <a:ext cx="10399471" cy="914400"/>
          </a:xfrm>
          <a:prstGeom prst="rect">
            <a:avLst/>
          </a:prstGeom>
          <a:noFill/>
        </p:spPr>
        <p:txBody>
          <a:bodyPr wrap="square" anchor="t" lIns="0" rIns="0" tIns="0" bIns="0">
            <a:spAutoFit/>
          </a:bodyPr>
          <a:lstStyle/>
          <a:p>
            <a:pPr algn="l">
              <a:lnSpc>
                <a:spcPct val="115000"/>
              </a:lnSpc>
            </a:pPr>
            <a:r>
              <a:rPr sz="2100" b="0" i="0">
                <a:solidFill>
                  <a:srgbClr val="FFFFFF"/>
                </a:solidFill>
                <a:latin typeface="Arial"/>
              </a:rPr>
              <a:t>3 year term is the pricing basis, 2 year is precedent</a:t>
            </a:r>
          </a:p>
        </p:txBody>
      </p:sp>
      <p:pic>
        <p:nvPicPr>
          <p:cNvPr id="14" name="Picture 13" descr="endor-mark.png"/>
          <p:cNvPicPr>
            <a:picLocks noChangeAspect="1"/>
          </p:cNvPicPr>
          <p:nvPr/>
        </p:nvPicPr>
        <p:blipFill>
          <a:blip r:embed="rId2"/>
          <a:stretch>
            <a:fillRect/>
          </a:stretch>
        </p:blipFill>
        <p:spPr>
          <a:xfrm>
            <a:off x="256032" y="6510528"/>
            <a:ext cx="123637" cy="137160"/>
          </a:xfrm>
          <a:prstGeom prst="rect">
            <a:avLst/>
          </a:prstGeom>
        </p:spPr>
      </p:pic>
      <p:sp>
        <p:nvSpPr>
          <p:cNvPr id="15" name="TextBox 14"/>
          <p:cNvSpPr txBox="1"/>
          <p:nvPr/>
        </p:nvSpPr>
        <p:spPr>
          <a:xfrm>
            <a:off x="502920" y="6492240"/>
            <a:ext cx="731520" cy="274320"/>
          </a:xfrm>
          <a:prstGeom prst="rect">
            <a:avLst/>
          </a:prstGeom>
          <a:noFill/>
        </p:spPr>
        <p:txBody>
          <a:bodyPr wrap="square" anchor="t" lIns="0" rIns="0" tIns="0" bIns="0">
            <a:spAutoFit/>
          </a:bodyPr>
          <a:lstStyle/>
          <a:p>
            <a:pPr algn="l"/>
            <a:r>
              <a:rPr sz="900" b="0" i="0">
                <a:solidFill>
                  <a:srgbClr val="9E9E9E"/>
                </a:solidFill>
                <a:latin typeface="Arial"/>
              </a:rPr>
              <a:t>23</a:t>
            </a:r>
          </a:p>
        </p:txBody>
      </p:sp>
      <p:sp>
        <p:nvSpPr>
          <p:cNvPr id="16" name="TextBox 15"/>
          <p:cNvSpPr txBox="1"/>
          <p:nvPr/>
        </p:nvSpPr>
        <p:spPr>
          <a:xfrm>
            <a:off x="6400800" y="6492240"/>
            <a:ext cx="5516575" cy="274320"/>
          </a:xfrm>
          <a:prstGeom prst="rect">
            <a:avLst/>
          </a:prstGeom>
          <a:noFill/>
        </p:spPr>
        <p:txBody>
          <a:bodyPr wrap="square" anchor="t" lIns="0" rIns="0" tIns="0" bIns="0">
            <a:spAutoFit/>
          </a:bodyPr>
          <a:lstStyle/>
          <a:p>
            <a:pPr algn="r"/>
            <a:r>
              <a:rPr sz="900" b="0" i="0">
                <a:solidFill>
                  <a:srgbClr val="9E9E9E"/>
                </a:solidFill>
                <a:latin typeface="Arial"/>
              </a:rPr>
              <a:t>Proprietary &amp;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